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Default Extension="xlsx" ContentType="application/vnd.openxmlformats-officedocument.spreadsheetml.sheet"/>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691" y="-91"/>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autoTitleDeleted val="1"/>
    <c:plotArea>
      <c:layout/>
      <c:barChart>
        <c:barDir val="bar"/>
        <c:grouping val="clustered"/>
        <c:ser>
          <c:idx val="0"/>
          <c:order val="0"/>
          <c:tx>
            <c:strRef>
              <c:f>Validation!$B$1</c:f>
              <c:strCache>
                <c:ptCount val="1"/>
                <c:pt idx="0">
                  <c:v>Validation MAE</c:v>
                </c:pt>
              </c:strCache>
            </c:strRef>
          </c:tx>
          <c:spPr>
            <a:solidFill>
              <a:srgbClr val="0891B2"/>
            </a:solidFill>
            <a:ln>
              <a:noFill/>
            </a:ln>
          </c:spPr>
          <c:dPt>
            <c:idx val="0"/>
          </c:dPt>
          <c:dPt>
            <c:idx val="1"/>
            <c:spPr>
              <a:solidFill>
                <a:srgbClr val="8BB9C3"/>
              </a:solidFill>
              <a:ln>
                <a:noFill/>
              </a:ln>
            </c:spPr>
          </c:dPt>
          <c:dPt>
            <c:idx val="2"/>
            <c:spPr>
              <a:solidFill>
                <a:srgbClr val="8BB9C3"/>
              </a:solidFill>
              <a:ln>
                <a:noFill/>
              </a:ln>
            </c:spPr>
          </c:dPt>
          <c:dPt>
            <c:idx val="3"/>
            <c:spPr>
              <a:solidFill>
                <a:srgbClr val="8BB9C3"/>
              </a:solidFill>
              <a:ln>
                <a:noFill/>
              </a:ln>
            </c:spPr>
          </c:dPt>
          <c:dLbls>
            <c:numFmt formatCode="0.000000" sourceLinked="0"/>
            <c:txPr>
              <a:bodyPr/>
              <a:lstStyle/>
              <a:p>
                <a:pPr>
                  <a:defRPr sz="1300">
                    <a:solidFill>
                      <a:srgbClr val="083344"/>
                    </a:solidFill>
                    <a:latin typeface="Calibri"/>
                  </a:defRPr>
                </a:pPr>
                <a:endParaRPr lang="en-US"/>
              </a:p>
            </c:txPr>
            <c:dLblPos val="outEnd"/>
            <c:showVal val="1"/>
          </c:dLbls>
          <c:cat>
            <c:strRef>
              <c:f>Validation!$A$2:$A$5</c:f>
              <c:strCache>
                <c:ptCount val="4"/>
                <c:pt idx="0">
                  <c:v>Linear regression</c:v>
                </c:pt>
                <c:pt idx="1">
                  <c:v>Decision tree</c:v>
                </c:pt>
                <c:pt idx="2">
                  <c:v>Random forest</c:v>
                </c:pt>
                <c:pt idx="3">
                  <c:v>Extra Trees</c:v>
                </c:pt>
              </c:strCache>
            </c:strRef>
          </c:cat>
          <c:val>
            <c:numRef>
              <c:f>Validation!$B$2:$B$5</c:f>
              <c:numCache>
                <c:formatCode>0.000000</c:formatCode>
                <c:ptCount val="4"/>
                <c:pt idx="0">
                  <c:v>4.1476577637297382E-3</c:v>
                </c:pt>
                <c:pt idx="1">
                  <c:v>1.5368844957873646E-2</c:v>
                </c:pt>
                <c:pt idx="2">
                  <c:v>7.959077786901976E-3</c:v>
                </c:pt>
                <c:pt idx="3">
                  <c:v>4.2087444742849077E-3</c:v>
                </c:pt>
              </c:numCache>
            </c:numRef>
          </c:val>
        </c:ser>
        <c:dLbls>
          <c:showVal val="1"/>
        </c:dLbls>
        <c:gapWidth val="65"/>
        <c:axId val="115863552"/>
        <c:axId val="115865088"/>
      </c:barChart>
      <c:catAx>
        <c:axId val="115863552"/>
        <c:scaling>
          <c:orientation val="maxMin"/>
        </c:scaling>
        <c:axPos val="l"/>
        <c:majorTickMark val="none"/>
        <c:tickLblPos val="nextTo"/>
        <c:spPr>
          <a:ln>
            <a:noFill/>
          </a:ln>
        </c:spPr>
        <c:txPr>
          <a:bodyPr/>
          <a:lstStyle/>
          <a:p>
            <a:pPr>
              <a:defRPr sz="1400">
                <a:solidFill>
                  <a:srgbClr val="083344"/>
                </a:solidFill>
                <a:latin typeface="Calibri"/>
              </a:defRPr>
            </a:pPr>
            <a:endParaRPr lang="en-US"/>
          </a:p>
        </c:txPr>
        <c:crossAx val="115865088"/>
        <c:crosses val="autoZero"/>
        <c:auto val="1"/>
        <c:lblAlgn val="ctr"/>
        <c:lblOffset val="100"/>
      </c:catAx>
      <c:valAx>
        <c:axId val="115865088"/>
        <c:scaling>
          <c:orientation val="minMax"/>
          <c:max val="2.0000000000000004E-2"/>
          <c:min val="0"/>
        </c:scaling>
        <c:axPos val="b"/>
        <c:majorGridlines>
          <c:spPr>
            <a:ln w="6350">
              <a:solidFill>
                <a:srgbClr val="DCEEF2"/>
              </a:solidFill>
            </a:ln>
          </c:spPr>
        </c:majorGridlines>
        <c:numFmt formatCode="0.000" sourceLinked="0"/>
        <c:majorTickMark val="none"/>
        <c:tickLblPos val="nextTo"/>
        <c:spPr>
          <a:ln>
            <a:noFill/>
          </a:ln>
        </c:spPr>
        <c:txPr>
          <a:bodyPr/>
          <a:lstStyle/>
          <a:p>
            <a:pPr>
              <a:defRPr sz="1100">
                <a:solidFill>
                  <a:srgbClr val="083344"/>
                </a:solidFill>
                <a:latin typeface="Calibri"/>
              </a:defRPr>
            </a:pPr>
            <a:endParaRPr lang="en-US"/>
          </a:p>
        </c:txPr>
        <c:crossAx val="115863552"/>
        <c:crosses val="max"/>
        <c:crossBetween val="between"/>
        <c:majorUnit val="5.000000000000001E-3"/>
      </c:valAx>
    </c:plotArea>
    <c:plotVisOnly val="1"/>
    <c:dispBlanksAs val="gap"/>
  </c:chart>
  <c:spPr>
    <a:solidFill>
      <a:srgbClr val="FFFFFF"/>
    </a:solidFill>
    <a:ln>
      <a:noFill/>
    </a:ln>
  </c:spPr>
  <c:txPr>
    <a:bodyPr/>
    <a:lstStyle/>
    <a:p>
      <a:pPr>
        <a:defRPr sz="1400">
          <a:solidFill>
            <a:srgbClr val="083344"/>
          </a:solidFill>
          <a:latin typeface="Calibri"/>
        </a:defRPr>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1DF96F-5BFA-4BD1-A74C-F144269A843C}" type="datetimeFigureOut">
              <a:rPr lang="en-US" smtClean="0"/>
              <a:pPr/>
              <a:t>10/29/2026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9B7536-9B74-403B-9795-CA53A3AD573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30 seconds.
Good morning. I am Madireddy Meena Mahanth Harinadh, roll number 23481A5498. My project is the HDI Prediction and Analytics System, branded HDI Intelligence. I developed it during the Artificial Intelligence and Machine Learning virtual internship with SmartBridge and APSCHE, under the guidance of Dr. Battina Srinuvasu Kumar. I will cover the problem, approach, technology choices, current progress and remaining work.
Sources: 7. Project Documentation/Academic_Documentation.docx and Academic_Documentation.pdf; supplied faculty circular and student details.</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35 seconds.
The problem is accessibility. Published UNDP tables contain useful information, but a beginner must move between datasets, definitions and calculation tools. Comparing countries across years takes manual work, and static reports cannot show what happens when an input changes. My solution brings exploration and calculations into one understandable platform. The scope is same-year HDI estimation and hypothetical comparison, rather than predicting a country’s future.
Sources: README.md; Academic_Documentation.docx, problem statement and project scope.</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35 seconds.
The project has five objectives. First, make published UNDP data easy to explore. Second, estimate HDI using the trained regression model. Third, compare historical indicators across countries. Fourth, let users change socioeconomic inputs and inspect a hypothetical scenario. Finally, keep the outputs transparent through the formula, evaluation metrics and optional AI explanations. The numerical features remain usable even when no AI key is configured.
Sources: README.md, Key Features; src/pages/Explorer.tsx, Predictor.tsx, Scenarios.tsx and EvaluationView.tsx.</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55 seconds.
The workflow begins with the UNDP snapshot. Python keeps complete country observations and prepares four features, using the natural logarithm of income. Countries are separated across training, validation and testing. I compare four regressors and select Linear Regression using validation error. After refitting on the development data, I export its parameters as JSON. The React application evaluates that model through shared JavaScript. A separate optional path sends an explanation request through a Vercel-compatible serverless function to Groq. This path needs a personal API key. It does not calculate or replace the browser’s HDI prediction.
Sources: 8. Project Demonstration/public/data/evaluation.json; public/data/model.json; shared/inference.mjs; 7. Project Documentation/MODEL_CARD.md. ml/train.py; api/insights.mjs; src/AIContext.tsx. Vercel is the configured hosting target, not a verified live deployment.</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40 seconds.
The prepared snapshot contains 5,940 complete observations for 193 countries and territories from 1990 to 2023. The four inputs are life expectancy, expected schooling, mean schooling and GNI per capita in constant 2021 purchasing-power-parity dollars. We exclude 622 incomplete country-year records rather than inventing missing values. Income receives a natural-log transform. Splitting by country prevents the same country appearing in both development and test partitions. The final test set contains 1,151 rows from 39 unseen countries.
Sources: 8. Project Demonstration/public/data/evaluation.json; public/data/model.json; shared/inference.mjs; 7. Project Documentation/MODEL_CARD.md.</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50 seconds.
The official HDI calculation normalizes health, education and income using fixed goalposts, then takes the geometric mean. Education averages the two schooling indices, while income uses a natural logarithm. The app bounds its component indices between zero and one. The equation at the bottom is a different operation: a fitted linear model using the same indicators and log income. Its coefficients come from training, and the final prediction is clipped to zero to one. The official formula gives the direct calculation. The model supports an educational comparison of regression methods, so the website shows both results separately.
Sources: UNDP HDR 2025 Technical Note 1: https://hdr.undp.org/sites/default/files/2025_HDR/hdr2025_technical_notes.pdf ; shared/inference.mjs, formulaHDI and predict functions; model.json.</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65 seconds.
I compared Linear Regression, Decision Tree, Random Forest and Extra Trees. The chart shows validation MAE, where smaller is better. Linear Regression achieved about 0.004148, narrowly ahead of Extra Trees at 0.004209, so I selected it using the predefined rule. After refitting, its test MAE was 0.004404, RMSE 0.006670 and R-squared 0.998183. MAE describes average absolute error, RMSE emphasizes larger differences, and R-squared describes fit rather than percentage accuracy. These are same-year reconstruction results. Because HDI is defined from these components, the direct formula remains the proper direct calculation. The ML work demonstrates model comparison, export and transparent educational analytics.
Sources: 8. Project Demonstration/public/data/evaluation.json; public/data/model.json; shared/inference.mjs; 7. Project Documentation/MODEL_CARD.md. Metric cards use test, chart uses comparison (validation). All values rounded to six decimals only for display.</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30 seconds.
The frontend uses React 19 and TypeScript with Vite and Tailwind. Recharts draws the data visualizations, and Lucide provides interface icons. Python, Pandas, NumPy and scikit-learn support data preparation and training. The selected Linear Regression model runs as exported JavaScript inference in the browser. Groq is optional and is accessed through a serverless endpoint. VS Code is the development environment, with Git and GitHub for the publication workflow. Vercel is the deployment target, and its hosted workflow still needs verification.
Sources: 8. Project Demonstration/package.json, package-lock.json, ml/requirements.txt and api/insights.mjs; README.md.</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35 seconds.
The main development work is complete locally. This includes the dataset, evaluated model, React interface, predictor, country explorer, historical charts, scenario analysis and personal-key controls. Technical and academic documentation are also prepared. The final verification record dated 28 October reports 22 Node tests, 11 browser tests, one production browser check and a successful build. These are recorded local results. I still need to confirm the public deployment and a genuine Groq request on the hosted site.
Sources: 6. Project Testing/verification.json (final cleanup record takes precedence over earlier report-evidence.json test count); src/pages; src/AIContext.tsx; 7. Project Documentation.</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40 seconds.
These are genuine captures of the cyan website, cropped to highlight the main outputs. Home introduces the index. Explore Data shows a working historical comparison for Cyprus and China. The predictor displays an India preset estimate of 0.680, and the scenario changes life expectancy to 78 and mean schooling to 10, producing about 0.750 and a change of 0.0692. If time permits, switch to the live local website at http://127.0.0.1:5173 here. Open Explore Data, then Predictor, then Scenarios. Explain that a scenario shows the model response to inputs, not a causal policy effect.
Sources: Actual retained local captures, 28 October 2026: 6. Project Testing/home.png, trend-detail.png (Explore Data), predictor.png and scenarios.png. Screenshot states and inputs: report-evidence.json. No AI-generated screens or AI responses.</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30 seconds.
The remaining work is publication and production verification. First, I will push the cleaned current version to the existing GitHub repository. Then I will deploy or confirm the Vercel project, configure the exact production origin and environment settings, and test the hosted workflow. A successful local AI settings test does not establish a successful provider request, so that needs a genuine hosted check. Finally, I will incorporate faculty feedback. I have not assigned unsupported completion percentages or deadlines.
Sources: README.md, deployment instructions; verification.json limitations. Academic_Documentation.docx now states a deployment URL, but a read-only check on 29 October 2026 could not resolve hdi-intelligence.vercel.app. Its live status remains unconfirmed.</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Speaking time: about 20 seconds.
To conclude, HDI Intelligence makes real UNDP data easier to explore and connects it with transparent model estimates and interactive scenarios. Optional AI explanations support the numerical results. The GitHub repository and official UNDP data links are available here. Vercel remains the deployment target until the live workflow is confirmed. Thank you. I welcome your questions.
Sources: README.md; evaluation.json; supplied GitHub and UNDP links. No speculative live deployment link included.</a:t>
            </a:r>
            <a:endParaRPr lang="en-US"/>
          </a:p>
        </p:txBody>
      </p:sp>
      <p:sp>
        <p:nvSpPr>
          <p:cNvPr id="4" name="Slide Number Placeholder 3"/>
          <p:cNvSpPr>
            <a:spLocks noGrp="1"/>
          </p:cNvSpPr>
          <p:nvPr>
            <p:ph type="sldNum" sz="quarter" idx="10"/>
          </p:nvPr>
        </p:nvSpPr>
        <p:spPr/>
        <p:txBody>
          <a:bodyPr/>
          <a:lstStyle/>
          <a:p>
            <a:fld id="{7B9B7536-9B74-403B-9795-CA53A3AD573E}"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800" y="1600201"/>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229600" y="1600201"/>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39"/>
            <a:ext cx="3657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274639"/>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B977B9-E932-44E8-A187-AF833DC77C51}"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22EB2-6359-4E84-A97E-44FE65EE8B9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977B9-E932-44E8-A187-AF833DC77C51}" type="datetimeFigureOut">
              <a:rPr lang="en-US" smtClean="0"/>
              <a:pPr/>
              <a:t>10/29/2026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222EB2-6359-4E84-A97E-44FE65EE8B9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hdi-intelligence.vercel.app/" TargetMode="External"/><Relationship Id="rId5" Type="http://schemas.openxmlformats.org/officeDocument/2006/relationships/hyperlink" Target="https://hdr.undp.org/data-center/documentation-and-downloads" TargetMode="External"/><Relationship Id="rId4" Type="http://schemas.openxmlformats.org/officeDocument/2006/relationships/hyperlink" Target="https://github.com/meenamahanth/HDI-Prediction-Analytics-Syst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INTERNSHIP PROJECT REVIEW</a:t>
            </a:r>
            <a:endParaRPr lang="en-US" sz="1200" b="1">
              <a:solidFill>
                <a:srgbClr val="0891B2"/>
              </a:solidFill>
              <a:latin typeface="Calibri"/>
            </a:endParaRPr>
          </a:p>
        </p:txBody>
      </p:sp>
      <p:sp>
        <p:nvSpPr>
          <p:cNvPr id="3" name="Text_1_3"/>
          <p:cNvSpPr txBox="1"/>
          <p:nvPr/>
        </p:nvSpPr>
        <p:spPr>
          <a:xfrm>
            <a:off x="558800" y="787400"/>
            <a:ext cx="11049000" cy="762000"/>
          </a:xfrm>
          <a:prstGeom prst="rect">
            <a:avLst/>
          </a:prstGeom>
          <a:noFill/>
        </p:spPr>
        <p:txBody>
          <a:bodyPr vert="horz" wrap="square" lIns="0" tIns="0" rIns="0" bIns="0" rtlCol="0">
            <a:noAutofit/>
          </a:bodyPr>
          <a:lstStyle/>
          <a:p>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1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1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1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01</a:t>
            </a:r>
            <a:endParaRPr lang="en-US" sz="1100" b="1">
              <a:solidFill>
                <a:srgbClr val="0891B2"/>
              </a:solidFill>
              <a:latin typeface="Calibri"/>
            </a:endParaRPr>
          </a:p>
        </p:txBody>
      </p:sp>
      <p:pic>
        <p:nvPicPr>
          <p:cNvPr id="8" name="Picture 7" descr="logo.png"/>
          <p:cNvPicPr>
            <a:picLocks/>
          </p:cNvPicPr>
          <p:nvPr/>
        </p:nvPicPr>
        <p:blipFill>
          <a:blip r:embed="rId3" cstate="print"/>
          <a:stretch>
            <a:fillRect/>
          </a:stretch>
        </p:blipFill>
        <p:spPr>
          <a:xfrm>
            <a:off x="10693400" y="596900"/>
            <a:ext cx="889000" cy="889000"/>
          </a:xfrm>
          <a:prstGeom prst="rect">
            <a:avLst/>
          </a:prstGeom>
        </p:spPr>
      </p:pic>
      <p:sp>
        <p:nvSpPr>
          <p:cNvPr id="9" name="Text_1_9"/>
          <p:cNvSpPr txBox="1"/>
          <p:nvPr/>
        </p:nvSpPr>
        <p:spPr>
          <a:xfrm>
            <a:off x="558800" y="1104900"/>
            <a:ext cx="10033000" cy="1270000"/>
          </a:xfrm>
          <a:prstGeom prst="rect">
            <a:avLst/>
          </a:prstGeom>
          <a:noFill/>
        </p:spPr>
        <p:txBody>
          <a:bodyPr vert="horz" wrap="square" lIns="0" tIns="0" rIns="0" bIns="0" rtlCol="0">
            <a:noAutofit/>
          </a:bodyPr>
          <a:lstStyle/>
          <a:p>
            <a:r>
              <a:rPr lang="en-US" sz="3800" b="1" smtClean="0">
                <a:solidFill>
                  <a:srgbClr val="083344"/>
                </a:solidFill>
                <a:latin typeface="Calibri"/>
              </a:rPr>
              <a:t>HDI PREDICTION AND
ANALYTICS SYSTEM</a:t>
            </a:r>
            <a:endParaRPr lang="en-US" sz="3800" b="1">
              <a:solidFill>
                <a:srgbClr val="083344"/>
              </a:solidFill>
              <a:latin typeface="Calibri"/>
            </a:endParaRPr>
          </a:p>
        </p:txBody>
      </p:sp>
      <p:sp>
        <p:nvSpPr>
          <p:cNvPr id="10" name="Text_1_10"/>
          <p:cNvSpPr txBox="1"/>
          <p:nvPr/>
        </p:nvSpPr>
        <p:spPr>
          <a:xfrm>
            <a:off x="558800" y="2565400"/>
            <a:ext cx="7620000" cy="381000"/>
          </a:xfrm>
          <a:prstGeom prst="rect">
            <a:avLst/>
          </a:prstGeom>
          <a:noFill/>
        </p:spPr>
        <p:txBody>
          <a:bodyPr vert="horz" wrap="square" lIns="0" tIns="0" rIns="0" bIns="0" rtlCol="0">
            <a:noAutofit/>
          </a:bodyPr>
          <a:lstStyle/>
          <a:p>
            <a:r>
              <a:rPr lang="en-US" sz="2300" b="1" smtClean="0">
                <a:solidFill>
                  <a:srgbClr val="0891B2"/>
                </a:solidFill>
                <a:latin typeface="Calibri"/>
              </a:rPr>
              <a:t>HDI Intelligence</a:t>
            </a:r>
            <a:endParaRPr lang="en-US" sz="2300" b="1">
              <a:solidFill>
                <a:srgbClr val="0891B2"/>
              </a:solidFill>
              <a:latin typeface="Calibri"/>
            </a:endParaRPr>
          </a:p>
        </p:txBody>
      </p:sp>
      <p:sp>
        <p:nvSpPr>
          <p:cNvPr id="11" name="Text_1_11"/>
          <p:cNvSpPr txBox="1"/>
          <p:nvPr/>
        </p:nvSpPr>
        <p:spPr>
          <a:xfrm>
            <a:off x="558800" y="2997200"/>
            <a:ext cx="10287000" cy="355600"/>
          </a:xfrm>
          <a:prstGeom prst="rect">
            <a:avLst/>
          </a:prstGeom>
          <a:noFill/>
        </p:spPr>
        <p:txBody>
          <a:bodyPr vert="horz" wrap="square" lIns="0" tIns="0" rIns="0" bIns="0" rtlCol="0">
            <a:noAutofit/>
          </a:bodyPr>
          <a:lstStyle/>
          <a:p>
            <a:r>
              <a:rPr lang="en-US" sz="2200" smtClean="0">
                <a:solidFill>
                  <a:srgbClr val="083344"/>
                </a:solidFill>
                <a:latin typeface="Calibri"/>
              </a:rPr>
              <a:t>A Comprehensive Measure of Well-Being</a:t>
            </a:r>
            <a:endParaRPr lang="en-US" sz="2200">
              <a:solidFill>
                <a:srgbClr val="083344"/>
              </a:solidFill>
              <a:latin typeface="Calibri"/>
            </a:endParaRPr>
          </a:p>
        </p:txBody>
      </p:sp>
      <p:cxnSp>
        <p:nvCxnSpPr>
          <p:cNvPr id="12" name="Straight Arrow Connector 11"/>
          <p:cNvCxnSpPr/>
          <p:nvPr/>
        </p:nvCxnSpPr>
        <p:spPr>
          <a:xfrm>
            <a:off x="558800" y="3606800"/>
            <a:ext cx="11074400" cy="0"/>
          </a:xfrm>
          <a:prstGeom prst="straightConnector1">
            <a:avLst/>
          </a:prstGeom>
          <a:ln w="25400">
            <a:solidFill>
              <a:srgbClr val="06B6D4"/>
            </a:solidFill>
          </a:ln>
        </p:spPr>
        <p:style>
          <a:lnRef idx="1">
            <a:schemeClr val="accent1"/>
          </a:lnRef>
          <a:fillRef idx="0">
            <a:schemeClr val="accent1"/>
          </a:fillRef>
          <a:effectRef idx="0">
            <a:schemeClr val="accent1"/>
          </a:effectRef>
          <a:fontRef idx="minor">
            <a:schemeClr val="tx1"/>
          </a:fontRef>
        </p:style>
      </p:cxnSp>
      <p:sp>
        <p:nvSpPr>
          <p:cNvPr id="13" name="Text_1_13"/>
          <p:cNvSpPr txBox="1"/>
          <p:nvPr/>
        </p:nvSpPr>
        <p:spPr>
          <a:xfrm>
            <a:off x="558800" y="3873500"/>
            <a:ext cx="5080000" cy="254000"/>
          </a:xfrm>
          <a:prstGeom prst="rect">
            <a:avLst/>
          </a:prstGeom>
          <a:noFill/>
        </p:spPr>
        <p:txBody>
          <a:bodyPr vert="horz" wrap="square" lIns="0" tIns="0" rIns="0" bIns="0" rtlCol="0">
            <a:noAutofit/>
          </a:bodyPr>
          <a:lstStyle/>
          <a:p>
            <a:r>
              <a:rPr lang="en-US" sz="1150" b="1" smtClean="0">
                <a:solidFill>
                  <a:srgbClr val="0891B2"/>
                </a:solidFill>
                <a:latin typeface="Calibri"/>
              </a:rPr>
              <a:t>PRESENTED BY</a:t>
            </a:r>
            <a:endParaRPr lang="en-US" sz="1150" b="1">
              <a:solidFill>
                <a:srgbClr val="0891B2"/>
              </a:solidFill>
              <a:latin typeface="Calibri"/>
            </a:endParaRPr>
          </a:p>
        </p:txBody>
      </p:sp>
      <p:sp>
        <p:nvSpPr>
          <p:cNvPr id="14" name="Text_1_14"/>
          <p:cNvSpPr txBox="1"/>
          <p:nvPr/>
        </p:nvSpPr>
        <p:spPr>
          <a:xfrm>
            <a:off x="558800" y="4229100"/>
            <a:ext cx="5461000" cy="330200"/>
          </a:xfrm>
          <a:prstGeom prst="rect">
            <a:avLst/>
          </a:prstGeom>
          <a:noFill/>
        </p:spPr>
        <p:txBody>
          <a:bodyPr vert="horz" wrap="square" lIns="0" tIns="0" rIns="0" bIns="0" rtlCol="0">
            <a:noAutofit/>
          </a:bodyPr>
          <a:lstStyle/>
          <a:p>
            <a:r>
              <a:rPr lang="en-US" b="1" smtClean="0">
                <a:solidFill>
                  <a:srgbClr val="083344"/>
                </a:solidFill>
                <a:latin typeface="Calibri"/>
              </a:rPr>
              <a:t>Madireddy Meena Mahanth Harinadh</a:t>
            </a:r>
            <a:endParaRPr lang="en-US" b="1">
              <a:solidFill>
                <a:srgbClr val="083344"/>
              </a:solidFill>
              <a:latin typeface="Calibri"/>
            </a:endParaRPr>
          </a:p>
        </p:txBody>
      </p:sp>
      <p:sp>
        <p:nvSpPr>
          <p:cNvPr id="15" name="Text_1_15"/>
          <p:cNvSpPr txBox="1"/>
          <p:nvPr/>
        </p:nvSpPr>
        <p:spPr>
          <a:xfrm>
            <a:off x="558800" y="4635500"/>
            <a:ext cx="5334000" cy="304800"/>
          </a:xfrm>
          <a:prstGeom prst="rect">
            <a:avLst/>
          </a:prstGeom>
          <a:noFill/>
        </p:spPr>
        <p:txBody>
          <a:bodyPr vert="horz" wrap="square" lIns="0" tIns="0" rIns="0" bIns="0" rtlCol="0">
            <a:noAutofit/>
          </a:bodyPr>
          <a:lstStyle/>
          <a:p>
            <a:r>
              <a:rPr lang="en-US" smtClean="0">
                <a:solidFill>
                  <a:srgbClr val="083344"/>
                </a:solidFill>
                <a:latin typeface="Calibri"/>
              </a:rPr>
              <a:t>23481A5498</a:t>
            </a:r>
            <a:endParaRPr lang="en-US">
              <a:solidFill>
                <a:srgbClr val="083344"/>
              </a:solidFill>
              <a:latin typeface="Calibri"/>
            </a:endParaRPr>
          </a:p>
        </p:txBody>
      </p:sp>
      <p:sp>
        <p:nvSpPr>
          <p:cNvPr id="16" name="Text_1_16"/>
          <p:cNvSpPr txBox="1"/>
          <p:nvPr/>
        </p:nvSpPr>
        <p:spPr>
          <a:xfrm>
            <a:off x="6350000" y="3873500"/>
            <a:ext cx="5207000" cy="254000"/>
          </a:xfrm>
          <a:prstGeom prst="rect">
            <a:avLst/>
          </a:prstGeom>
          <a:noFill/>
        </p:spPr>
        <p:txBody>
          <a:bodyPr vert="horz" wrap="square" lIns="0" tIns="0" rIns="0" bIns="0" rtlCol="0">
            <a:noAutofit/>
          </a:bodyPr>
          <a:lstStyle/>
          <a:p>
            <a:r>
              <a:rPr lang="en-US" sz="1150" b="1" smtClean="0">
                <a:solidFill>
                  <a:srgbClr val="0891B2"/>
                </a:solidFill>
                <a:latin typeface="Calibri"/>
              </a:rPr>
              <a:t>PROJECT GUIDE</a:t>
            </a:r>
            <a:endParaRPr lang="en-US" sz="1150" b="1">
              <a:solidFill>
                <a:srgbClr val="0891B2"/>
              </a:solidFill>
              <a:latin typeface="Calibri"/>
            </a:endParaRPr>
          </a:p>
        </p:txBody>
      </p:sp>
      <p:sp>
        <p:nvSpPr>
          <p:cNvPr id="17" name="Text_1_17"/>
          <p:cNvSpPr txBox="1"/>
          <p:nvPr/>
        </p:nvSpPr>
        <p:spPr>
          <a:xfrm>
            <a:off x="6350000" y="4229100"/>
            <a:ext cx="3073400" cy="330200"/>
          </a:xfrm>
          <a:prstGeom prst="rect">
            <a:avLst/>
          </a:prstGeom>
          <a:noFill/>
        </p:spPr>
        <p:txBody>
          <a:bodyPr vert="horz" wrap="square" lIns="0" tIns="0" rIns="0" bIns="0" rtlCol="0">
            <a:noAutofit/>
          </a:bodyPr>
          <a:lstStyle/>
          <a:p>
            <a:r>
              <a:rPr lang="en-US" sz="1700" b="1" smtClean="0">
                <a:solidFill>
                  <a:srgbClr val="083344"/>
                </a:solidFill>
                <a:latin typeface="Calibri"/>
              </a:rPr>
              <a:t>Dr. Battina Srinuvasu Kumar</a:t>
            </a:r>
            <a:endParaRPr lang="en-US" sz="1700" b="1">
              <a:solidFill>
                <a:srgbClr val="083344"/>
              </a:solidFill>
              <a:latin typeface="Calibri"/>
            </a:endParaRPr>
          </a:p>
        </p:txBody>
      </p:sp>
      <p:sp>
        <p:nvSpPr>
          <p:cNvPr id="18" name="Text_1_18"/>
          <p:cNvSpPr txBox="1"/>
          <p:nvPr/>
        </p:nvSpPr>
        <p:spPr>
          <a:xfrm>
            <a:off x="9525000" y="4279900"/>
            <a:ext cx="2108200" cy="279400"/>
          </a:xfrm>
          <a:prstGeom prst="rect">
            <a:avLst/>
          </a:prstGeom>
          <a:noFill/>
        </p:spPr>
        <p:txBody>
          <a:bodyPr vert="horz" wrap="square" lIns="0" tIns="0" rIns="0" bIns="0" rtlCol="0">
            <a:noAutofit/>
          </a:bodyPr>
          <a:lstStyle/>
          <a:p>
            <a:r>
              <a:rPr lang="en-US" sz="1150" smtClean="0">
                <a:solidFill>
                  <a:srgbClr val="083344"/>
                </a:solidFill>
                <a:latin typeface="Calibri"/>
              </a:rPr>
              <a:t>M.Tech., Ph.D. postdoc(SIT)</a:t>
            </a:r>
            <a:endParaRPr lang="en-US" sz="1150">
              <a:solidFill>
                <a:srgbClr val="083344"/>
              </a:solidFill>
              <a:latin typeface="Calibri"/>
            </a:endParaRPr>
          </a:p>
        </p:txBody>
      </p:sp>
      <p:sp>
        <p:nvSpPr>
          <p:cNvPr id="19" name="Text_1_19"/>
          <p:cNvSpPr txBox="1"/>
          <p:nvPr/>
        </p:nvSpPr>
        <p:spPr>
          <a:xfrm>
            <a:off x="6350000" y="4635500"/>
            <a:ext cx="5270500" cy="304800"/>
          </a:xfrm>
          <a:prstGeom prst="rect">
            <a:avLst/>
          </a:prstGeom>
          <a:noFill/>
        </p:spPr>
        <p:txBody>
          <a:bodyPr vert="horz" wrap="square" lIns="0" tIns="0" rIns="0" bIns="0" rtlCol="0">
            <a:noAutofit/>
          </a:bodyPr>
          <a:lstStyle/>
          <a:p>
            <a:r>
              <a:rPr lang="en-US" sz="1500" smtClean="0">
                <a:solidFill>
                  <a:srgbClr val="083344"/>
                </a:solidFill>
                <a:latin typeface="Calibri"/>
              </a:rPr>
              <a:t>Professor &amp; Mentor</a:t>
            </a:r>
            <a:endParaRPr lang="en-US" sz="1500">
              <a:solidFill>
                <a:srgbClr val="083344"/>
              </a:solidFill>
              <a:latin typeface="Calibri"/>
            </a:endParaRPr>
          </a:p>
        </p:txBody>
      </p:sp>
      <p:sp>
        <p:nvSpPr>
          <p:cNvPr id="20" name="Text_1_20"/>
          <p:cNvSpPr txBox="1"/>
          <p:nvPr/>
        </p:nvSpPr>
        <p:spPr>
          <a:xfrm>
            <a:off x="558800" y="5168900"/>
            <a:ext cx="11074400" cy="342900"/>
          </a:xfrm>
          <a:prstGeom prst="rect">
            <a:avLst/>
          </a:prstGeom>
          <a:noFill/>
        </p:spPr>
        <p:txBody>
          <a:bodyPr vert="horz" wrap="square" lIns="0" tIns="0" rIns="0" bIns="0" rtlCol="0">
            <a:noAutofit/>
          </a:bodyPr>
          <a:lstStyle/>
          <a:p>
            <a:r>
              <a:rPr lang="en-US" sz="2000" b="1" smtClean="0">
                <a:solidFill>
                  <a:srgbClr val="083344"/>
                </a:solidFill>
                <a:latin typeface="Calibri"/>
              </a:rPr>
              <a:t>Seshadri Rao Gudlavalleru Engineering College</a:t>
            </a:r>
            <a:endParaRPr lang="en-US" sz="2000" b="1">
              <a:solidFill>
                <a:srgbClr val="083344"/>
              </a:solidFill>
              <a:latin typeface="Calibri"/>
            </a:endParaRPr>
          </a:p>
        </p:txBody>
      </p:sp>
      <p:sp>
        <p:nvSpPr>
          <p:cNvPr id="21" name="Text_1_21"/>
          <p:cNvSpPr txBox="1"/>
          <p:nvPr/>
        </p:nvSpPr>
        <p:spPr>
          <a:xfrm>
            <a:off x="558800" y="5562600"/>
            <a:ext cx="11074400" cy="292100"/>
          </a:xfrm>
          <a:prstGeom prst="rect">
            <a:avLst/>
          </a:prstGeom>
          <a:noFill/>
        </p:spPr>
        <p:txBody>
          <a:bodyPr vert="horz" wrap="square" lIns="0" tIns="0" rIns="0" bIns="0" rtlCol="0">
            <a:noAutofit/>
          </a:bodyPr>
          <a:lstStyle/>
          <a:p>
            <a:r>
              <a:rPr lang="en-US" sz="1500" smtClean="0">
                <a:solidFill>
                  <a:srgbClr val="083344"/>
                </a:solidFill>
                <a:latin typeface="Calibri"/>
              </a:rPr>
              <a:t>B.Tech — Artificial Intelligence and Data Science     Academic year 2026–2027</a:t>
            </a:r>
            <a:endParaRPr lang="en-US" sz="1500">
              <a:solidFill>
                <a:srgbClr val="083344"/>
              </a:solidFill>
              <a:latin typeface="Calibri"/>
            </a:endParaRPr>
          </a:p>
        </p:txBody>
      </p:sp>
      <p:sp>
        <p:nvSpPr>
          <p:cNvPr id="22" name="Text_1_22"/>
          <p:cNvSpPr txBox="1"/>
          <p:nvPr/>
        </p:nvSpPr>
        <p:spPr>
          <a:xfrm>
            <a:off x="558800" y="5969000"/>
            <a:ext cx="5588000" cy="254000"/>
          </a:xfrm>
          <a:prstGeom prst="rect">
            <a:avLst/>
          </a:prstGeom>
          <a:noFill/>
        </p:spPr>
        <p:txBody>
          <a:bodyPr vert="horz" wrap="square" lIns="0" tIns="0" rIns="0" bIns="0" rtlCol="0">
            <a:noAutofit/>
          </a:bodyPr>
          <a:lstStyle/>
          <a:p>
            <a:r>
              <a:rPr lang="en-US" sz="1400" b="1" smtClean="0">
                <a:solidFill>
                  <a:srgbClr val="0891B2"/>
                </a:solidFill>
                <a:latin typeface="Calibri"/>
              </a:rPr>
              <a:t>AI &amp; Machine Learning Virtual Internship</a:t>
            </a:r>
            <a:endParaRPr lang="en-US" sz="1400" b="1">
              <a:solidFill>
                <a:srgbClr val="0891B2"/>
              </a:solidFill>
              <a:latin typeface="Calibri"/>
            </a:endParaRPr>
          </a:p>
        </p:txBody>
      </p:sp>
      <p:sp>
        <p:nvSpPr>
          <p:cNvPr id="23" name="Text_1_23"/>
          <p:cNvSpPr txBox="1"/>
          <p:nvPr/>
        </p:nvSpPr>
        <p:spPr>
          <a:xfrm>
            <a:off x="6223000" y="5943600"/>
            <a:ext cx="5410200" cy="482600"/>
          </a:xfrm>
          <a:prstGeom prst="rect">
            <a:avLst/>
          </a:prstGeom>
          <a:noFill/>
        </p:spPr>
        <p:txBody>
          <a:bodyPr vert="horz" wrap="square" lIns="0" tIns="0" rIns="0" bIns="0" rtlCol="0">
            <a:noAutofit/>
          </a:bodyPr>
          <a:lstStyle/>
          <a:p>
            <a:pPr algn="r"/>
            <a:r>
              <a:rPr lang="en-US" sz="1250" smtClean="0">
                <a:solidFill>
                  <a:srgbClr val="426773"/>
                </a:solidFill>
                <a:latin typeface="Calibri"/>
              </a:rPr>
              <a:t>SmartBridge Educational Services Pvt. Ltd. with APSCHE
Two months, 120 hours</a:t>
            </a:r>
            <a:endParaRPr lang="en-US" sz="125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PROBLEM &amp; OBJECTIVES</a:t>
            </a:r>
            <a:endParaRPr lang="en-US" sz="1200" b="1">
              <a:solidFill>
                <a:srgbClr val="0891B2"/>
              </a:solidFill>
              <a:latin typeface="Calibri"/>
            </a:endParaRPr>
          </a:p>
        </p:txBody>
      </p:sp>
      <p:sp>
        <p:nvSpPr>
          <p:cNvPr id="3" name="Text_2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Problem statement</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2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2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2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02</a:t>
            </a:r>
            <a:endParaRPr lang="en-US" sz="1100" b="1">
              <a:solidFill>
                <a:srgbClr val="0891B2"/>
              </a:solidFill>
              <a:latin typeface="Calibri"/>
            </a:endParaRPr>
          </a:p>
        </p:txBody>
      </p:sp>
      <p:sp>
        <p:nvSpPr>
          <p:cNvPr id="8" name="Text_2_8"/>
          <p:cNvSpPr txBox="1"/>
          <p:nvPr/>
        </p:nvSpPr>
        <p:spPr>
          <a:xfrm>
            <a:off x="558800" y="1943100"/>
            <a:ext cx="508000" cy="355600"/>
          </a:xfrm>
          <a:prstGeom prst="rect">
            <a:avLst/>
          </a:prstGeom>
          <a:noFill/>
        </p:spPr>
        <p:txBody>
          <a:bodyPr vert="horz" wrap="square" lIns="0" tIns="0" rIns="0" bIns="0" rtlCol="0">
            <a:noAutofit/>
          </a:bodyPr>
          <a:lstStyle/>
          <a:p>
            <a:r>
              <a:rPr lang="en-US" sz="2200" b="1" smtClean="0">
                <a:solidFill>
                  <a:srgbClr val="0891B2"/>
                </a:solidFill>
                <a:latin typeface="Calibri"/>
              </a:rPr>
              <a:t>01</a:t>
            </a:r>
            <a:endParaRPr lang="en-US" sz="2200" b="1">
              <a:solidFill>
                <a:srgbClr val="0891B2"/>
              </a:solidFill>
              <a:latin typeface="Calibri"/>
            </a:endParaRPr>
          </a:p>
        </p:txBody>
      </p:sp>
      <p:sp>
        <p:nvSpPr>
          <p:cNvPr id="9" name="Text_2_9"/>
          <p:cNvSpPr txBox="1"/>
          <p:nvPr/>
        </p:nvSpPr>
        <p:spPr>
          <a:xfrm>
            <a:off x="1244600" y="1905000"/>
            <a:ext cx="4953000" cy="342900"/>
          </a:xfrm>
          <a:prstGeom prst="rect">
            <a:avLst/>
          </a:prstGeom>
          <a:noFill/>
        </p:spPr>
        <p:txBody>
          <a:bodyPr vert="horz" wrap="square" lIns="0" tIns="0" rIns="0" bIns="0" rtlCol="0">
            <a:noAutofit/>
          </a:bodyPr>
          <a:lstStyle/>
          <a:p>
            <a:r>
              <a:rPr lang="en-US" sz="2100" b="1" smtClean="0">
                <a:solidFill>
                  <a:srgbClr val="083344"/>
                </a:solidFill>
                <a:latin typeface="Calibri"/>
              </a:rPr>
              <a:t>Scattered datasets</a:t>
            </a:r>
            <a:endParaRPr lang="en-US" sz="2100" b="1">
              <a:solidFill>
                <a:srgbClr val="083344"/>
              </a:solidFill>
              <a:latin typeface="Calibri"/>
            </a:endParaRPr>
          </a:p>
        </p:txBody>
      </p:sp>
      <p:sp>
        <p:nvSpPr>
          <p:cNvPr id="10" name="Text_2_10"/>
          <p:cNvSpPr txBox="1"/>
          <p:nvPr/>
        </p:nvSpPr>
        <p:spPr>
          <a:xfrm>
            <a:off x="1244600" y="2298700"/>
            <a:ext cx="5080000" cy="342900"/>
          </a:xfrm>
          <a:prstGeom prst="rect">
            <a:avLst/>
          </a:prstGeom>
          <a:noFill/>
        </p:spPr>
        <p:txBody>
          <a:bodyPr vert="horz" wrap="square" lIns="0" tIns="0" rIns="0" bIns="0" rtlCol="0">
            <a:noAutofit/>
          </a:bodyPr>
          <a:lstStyle/>
          <a:p>
            <a:r>
              <a:rPr lang="en-US" sz="1550" smtClean="0">
                <a:solidFill>
                  <a:srgbClr val="426773"/>
                </a:solidFill>
                <a:latin typeface="Calibri"/>
              </a:rPr>
              <a:t>Beginners must navigate large country tables.</a:t>
            </a:r>
            <a:endParaRPr lang="en-US" sz="1550">
              <a:solidFill>
                <a:srgbClr val="426773"/>
              </a:solidFill>
              <a:latin typeface="Calibri"/>
            </a:endParaRPr>
          </a:p>
        </p:txBody>
      </p:sp>
      <p:cxnSp>
        <p:nvCxnSpPr>
          <p:cNvPr id="11" name="Straight Arrow Connector 10"/>
          <p:cNvCxnSpPr/>
          <p:nvPr/>
        </p:nvCxnSpPr>
        <p:spPr>
          <a:xfrm>
            <a:off x="1244600" y="2743200"/>
            <a:ext cx="4978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12" name="Text_2_12"/>
          <p:cNvSpPr txBox="1"/>
          <p:nvPr/>
        </p:nvSpPr>
        <p:spPr>
          <a:xfrm>
            <a:off x="558800" y="2908300"/>
            <a:ext cx="508000" cy="355600"/>
          </a:xfrm>
          <a:prstGeom prst="rect">
            <a:avLst/>
          </a:prstGeom>
          <a:noFill/>
        </p:spPr>
        <p:txBody>
          <a:bodyPr vert="horz" wrap="square" lIns="0" tIns="0" rIns="0" bIns="0" rtlCol="0">
            <a:noAutofit/>
          </a:bodyPr>
          <a:lstStyle/>
          <a:p>
            <a:r>
              <a:rPr lang="en-US" sz="2200" b="1" smtClean="0">
                <a:solidFill>
                  <a:srgbClr val="0891B2"/>
                </a:solidFill>
                <a:latin typeface="Calibri"/>
              </a:rPr>
              <a:t>02</a:t>
            </a:r>
            <a:endParaRPr lang="en-US" sz="2200" b="1">
              <a:solidFill>
                <a:srgbClr val="0891B2"/>
              </a:solidFill>
              <a:latin typeface="Calibri"/>
            </a:endParaRPr>
          </a:p>
        </p:txBody>
      </p:sp>
      <p:sp>
        <p:nvSpPr>
          <p:cNvPr id="13" name="Text_2_13"/>
          <p:cNvSpPr txBox="1"/>
          <p:nvPr/>
        </p:nvSpPr>
        <p:spPr>
          <a:xfrm>
            <a:off x="1244600" y="2870200"/>
            <a:ext cx="4953000" cy="342900"/>
          </a:xfrm>
          <a:prstGeom prst="rect">
            <a:avLst/>
          </a:prstGeom>
          <a:noFill/>
        </p:spPr>
        <p:txBody>
          <a:bodyPr vert="horz" wrap="square" lIns="0" tIns="0" rIns="0" bIns="0" rtlCol="0">
            <a:noAutofit/>
          </a:bodyPr>
          <a:lstStyle/>
          <a:p>
            <a:r>
              <a:rPr lang="en-US" sz="2100" b="1" smtClean="0">
                <a:solidFill>
                  <a:srgbClr val="083344"/>
                </a:solidFill>
                <a:latin typeface="Calibri"/>
              </a:rPr>
              <a:t>Manual comparison</a:t>
            </a:r>
            <a:endParaRPr lang="en-US" sz="2100" b="1">
              <a:solidFill>
                <a:srgbClr val="083344"/>
              </a:solidFill>
              <a:latin typeface="Calibri"/>
            </a:endParaRPr>
          </a:p>
        </p:txBody>
      </p:sp>
      <p:sp>
        <p:nvSpPr>
          <p:cNvPr id="14" name="Text_2_14"/>
          <p:cNvSpPr txBox="1"/>
          <p:nvPr/>
        </p:nvSpPr>
        <p:spPr>
          <a:xfrm>
            <a:off x="1244600" y="3263900"/>
            <a:ext cx="5080000" cy="342900"/>
          </a:xfrm>
          <a:prstGeom prst="rect">
            <a:avLst/>
          </a:prstGeom>
          <a:noFill/>
        </p:spPr>
        <p:txBody>
          <a:bodyPr vert="horz" wrap="square" lIns="0" tIns="0" rIns="0" bIns="0" rtlCol="0">
            <a:noAutofit/>
          </a:bodyPr>
          <a:lstStyle/>
          <a:p>
            <a:r>
              <a:rPr lang="en-US" sz="1550" smtClean="0">
                <a:solidFill>
                  <a:srgbClr val="426773"/>
                </a:solidFill>
                <a:latin typeface="Calibri"/>
              </a:rPr>
              <a:t>Country and year comparisons take extra work.</a:t>
            </a:r>
            <a:endParaRPr lang="en-US" sz="1550">
              <a:solidFill>
                <a:srgbClr val="426773"/>
              </a:solidFill>
              <a:latin typeface="Calibri"/>
            </a:endParaRPr>
          </a:p>
        </p:txBody>
      </p:sp>
      <p:cxnSp>
        <p:nvCxnSpPr>
          <p:cNvPr id="15" name="Straight Arrow Connector 14"/>
          <p:cNvCxnSpPr/>
          <p:nvPr/>
        </p:nvCxnSpPr>
        <p:spPr>
          <a:xfrm>
            <a:off x="1244600" y="3708400"/>
            <a:ext cx="4978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16" name="Text_2_16"/>
          <p:cNvSpPr txBox="1"/>
          <p:nvPr/>
        </p:nvSpPr>
        <p:spPr>
          <a:xfrm>
            <a:off x="558800" y="3873500"/>
            <a:ext cx="508000" cy="355600"/>
          </a:xfrm>
          <a:prstGeom prst="rect">
            <a:avLst/>
          </a:prstGeom>
          <a:noFill/>
        </p:spPr>
        <p:txBody>
          <a:bodyPr vert="horz" wrap="square" lIns="0" tIns="0" rIns="0" bIns="0" rtlCol="0">
            <a:noAutofit/>
          </a:bodyPr>
          <a:lstStyle/>
          <a:p>
            <a:r>
              <a:rPr lang="en-US" sz="2200" b="1" smtClean="0">
                <a:solidFill>
                  <a:srgbClr val="0891B2"/>
                </a:solidFill>
                <a:latin typeface="Calibri"/>
              </a:rPr>
              <a:t>03</a:t>
            </a:r>
            <a:endParaRPr lang="en-US" sz="2200" b="1">
              <a:solidFill>
                <a:srgbClr val="0891B2"/>
              </a:solidFill>
              <a:latin typeface="Calibri"/>
            </a:endParaRPr>
          </a:p>
        </p:txBody>
      </p:sp>
      <p:sp>
        <p:nvSpPr>
          <p:cNvPr id="17" name="Text_2_17"/>
          <p:cNvSpPr txBox="1"/>
          <p:nvPr/>
        </p:nvSpPr>
        <p:spPr>
          <a:xfrm>
            <a:off x="1244600" y="3835400"/>
            <a:ext cx="4953000" cy="342900"/>
          </a:xfrm>
          <a:prstGeom prst="rect">
            <a:avLst/>
          </a:prstGeom>
          <a:noFill/>
        </p:spPr>
        <p:txBody>
          <a:bodyPr vert="horz" wrap="square" lIns="0" tIns="0" rIns="0" bIns="0" rtlCol="0">
            <a:noAutofit/>
          </a:bodyPr>
          <a:lstStyle/>
          <a:p>
            <a:r>
              <a:rPr lang="en-US" sz="2100" b="1" smtClean="0">
                <a:solidFill>
                  <a:srgbClr val="083344"/>
                </a:solidFill>
                <a:latin typeface="Calibri"/>
              </a:rPr>
              <a:t>Opaque calculations</a:t>
            </a:r>
            <a:endParaRPr lang="en-US" sz="2100" b="1">
              <a:solidFill>
                <a:srgbClr val="083344"/>
              </a:solidFill>
              <a:latin typeface="Calibri"/>
            </a:endParaRPr>
          </a:p>
        </p:txBody>
      </p:sp>
      <p:sp>
        <p:nvSpPr>
          <p:cNvPr id="18" name="Text_2_18"/>
          <p:cNvSpPr txBox="1"/>
          <p:nvPr/>
        </p:nvSpPr>
        <p:spPr>
          <a:xfrm>
            <a:off x="1244600" y="4229100"/>
            <a:ext cx="5080000" cy="342900"/>
          </a:xfrm>
          <a:prstGeom prst="rect">
            <a:avLst/>
          </a:prstGeom>
          <a:noFill/>
        </p:spPr>
        <p:txBody>
          <a:bodyPr vert="horz" wrap="square" lIns="0" tIns="0" rIns="0" bIns="0" rtlCol="0">
            <a:noAutofit/>
          </a:bodyPr>
          <a:lstStyle/>
          <a:p>
            <a:r>
              <a:rPr lang="en-US" sz="1550" smtClean="0">
                <a:solidFill>
                  <a:srgbClr val="426773"/>
                </a:solidFill>
                <a:latin typeface="Calibri"/>
              </a:rPr>
              <a:t>An index value can hide how it was calculated.</a:t>
            </a:r>
            <a:endParaRPr lang="en-US" sz="1550">
              <a:solidFill>
                <a:srgbClr val="426773"/>
              </a:solidFill>
              <a:latin typeface="Calibri"/>
            </a:endParaRPr>
          </a:p>
        </p:txBody>
      </p:sp>
      <p:cxnSp>
        <p:nvCxnSpPr>
          <p:cNvPr id="19" name="Straight Arrow Connector 18"/>
          <p:cNvCxnSpPr/>
          <p:nvPr/>
        </p:nvCxnSpPr>
        <p:spPr>
          <a:xfrm>
            <a:off x="1244600" y="4673600"/>
            <a:ext cx="4978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20" name="Text_2_20"/>
          <p:cNvSpPr txBox="1"/>
          <p:nvPr/>
        </p:nvSpPr>
        <p:spPr>
          <a:xfrm>
            <a:off x="558800" y="4838700"/>
            <a:ext cx="508000" cy="355600"/>
          </a:xfrm>
          <a:prstGeom prst="rect">
            <a:avLst/>
          </a:prstGeom>
          <a:noFill/>
        </p:spPr>
        <p:txBody>
          <a:bodyPr vert="horz" wrap="square" lIns="0" tIns="0" rIns="0" bIns="0" rtlCol="0">
            <a:noAutofit/>
          </a:bodyPr>
          <a:lstStyle/>
          <a:p>
            <a:r>
              <a:rPr lang="en-US" sz="2200" b="1" smtClean="0">
                <a:solidFill>
                  <a:srgbClr val="0891B2"/>
                </a:solidFill>
                <a:latin typeface="Calibri"/>
              </a:rPr>
              <a:t>04</a:t>
            </a:r>
            <a:endParaRPr lang="en-US" sz="2200" b="1">
              <a:solidFill>
                <a:srgbClr val="0891B2"/>
              </a:solidFill>
              <a:latin typeface="Calibri"/>
            </a:endParaRPr>
          </a:p>
        </p:txBody>
      </p:sp>
      <p:sp>
        <p:nvSpPr>
          <p:cNvPr id="21" name="Text_2_21"/>
          <p:cNvSpPr txBox="1"/>
          <p:nvPr/>
        </p:nvSpPr>
        <p:spPr>
          <a:xfrm>
            <a:off x="1244600" y="4800600"/>
            <a:ext cx="4953000" cy="342900"/>
          </a:xfrm>
          <a:prstGeom prst="rect">
            <a:avLst/>
          </a:prstGeom>
          <a:noFill/>
        </p:spPr>
        <p:txBody>
          <a:bodyPr vert="horz" wrap="square" lIns="0" tIns="0" rIns="0" bIns="0" rtlCol="0">
            <a:noAutofit/>
          </a:bodyPr>
          <a:lstStyle/>
          <a:p>
            <a:r>
              <a:rPr lang="en-US" sz="2100" b="1" smtClean="0">
                <a:solidFill>
                  <a:srgbClr val="083344"/>
                </a:solidFill>
                <a:latin typeface="Calibri"/>
              </a:rPr>
              <a:t>Static reports</a:t>
            </a:r>
            <a:endParaRPr lang="en-US" sz="2100" b="1">
              <a:solidFill>
                <a:srgbClr val="083344"/>
              </a:solidFill>
              <a:latin typeface="Calibri"/>
            </a:endParaRPr>
          </a:p>
        </p:txBody>
      </p:sp>
      <p:sp>
        <p:nvSpPr>
          <p:cNvPr id="22" name="Text_2_22"/>
          <p:cNvSpPr txBox="1"/>
          <p:nvPr/>
        </p:nvSpPr>
        <p:spPr>
          <a:xfrm>
            <a:off x="1244600" y="5194300"/>
            <a:ext cx="5080000" cy="342900"/>
          </a:xfrm>
          <a:prstGeom prst="rect">
            <a:avLst/>
          </a:prstGeom>
          <a:noFill/>
        </p:spPr>
        <p:txBody>
          <a:bodyPr vert="horz" wrap="square" lIns="0" tIns="0" rIns="0" bIns="0" rtlCol="0">
            <a:noAutofit/>
          </a:bodyPr>
          <a:lstStyle/>
          <a:p>
            <a:r>
              <a:rPr lang="en-US" sz="1550" smtClean="0">
                <a:solidFill>
                  <a:srgbClr val="426773"/>
                </a:solidFill>
                <a:latin typeface="Calibri"/>
              </a:rPr>
              <a:t>Readers cannot test hypothetical inputs.</a:t>
            </a:r>
            <a:endParaRPr lang="en-US" sz="1550">
              <a:solidFill>
                <a:srgbClr val="426773"/>
              </a:solidFill>
              <a:latin typeface="Calibri"/>
            </a:endParaRPr>
          </a:p>
        </p:txBody>
      </p:sp>
      <p:cxnSp>
        <p:nvCxnSpPr>
          <p:cNvPr id="23" name="Straight Arrow Connector 22"/>
          <p:cNvCxnSpPr/>
          <p:nvPr/>
        </p:nvCxnSpPr>
        <p:spPr>
          <a:xfrm>
            <a:off x="1244600" y="5638800"/>
            <a:ext cx="4978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6604000" y="3771900"/>
            <a:ext cx="660400" cy="0"/>
          </a:xfrm>
          <a:prstGeom prst="straightConnector1">
            <a:avLst/>
          </a:prstGeom>
          <a:ln w="38100">
            <a:solidFill>
              <a:srgbClr val="06B6D4"/>
            </a:solidFill>
            <a:tailEnd type="arrow"/>
          </a:ln>
        </p:spPr>
        <p:style>
          <a:lnRef idx="1">
            <a:schemeClr val="accent1"/>
          </a:lnRef>
          <a:fillRef idx="0">
            <a:schemeClr val="accent1"/>
          </a:fillRef>
          <a:effectRef idx="0">
            <a:schemeClr val="accent1"/>
          </a:effectRef>
          <a:fontRef idx="minor">
            <a:schemeClr val="tx1"/>
          </a:fontRef>
        </p:style>
      </p:cxnSp>
      <p:sp>
        <p:nvSpPr>
          <p:cNvPr id="25" name="Rounded Rectangle 24"/>
          <p:cNvSpPr/>
          <p:nvPr/>
        </p:nvSpPr>
        <p:spPr>
          <a:xfrm>
            <a:off x="7543800" y="2171700"/>
            <a:ext cx="4089400" cy="3302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_2_26"/>
          <p:cNvSpPr txBox="1"/>
          <p:nvPr/>
        </p:nvSpPr>
        <p:spPr>
          <a:xfrm>
            <a:off x="7835900" y="2514600"/>
            <a:ext cx="3492500" cy="723900"/>
          </a:xfrm>
          <a:prstGeom prst="rect">
            <a:avLst/>
          </a:prstGeom>
          <a:noFill/>
        </p:spPr>
        <p:txBody>
          <a:bodyPr vert="horz" wrap="square" lIns="0" tIns="0" rIns="0" bIns="0" rtlCol="0">
            <a:noAutofit/>
          </a:bodyPr>
          <a:lstStyle/>
          <a:p>
            <a:r>
              <a:rPr lang="en-US" sz="2400" b="1" smtClean="0">
                <a:solidFill>
                  <a:srgbClr val="083344"/>
                </a:solidFill>
                <a:latin typeface="Calibri"/>
              </a:rPr>
              <a:t>ONE UNDERSTANDABLE
PLATFORM</a:t>
            </a:r>
            <a:endParaRPr lang="en-US" sz="2400" b="1">
              <a:solidFill>
                <a:srgbClr val="083344"/>
              </a:solidFill>
              <a:latin typeface="Calibri"/>
            </a:endParaRPr>
          </a:p>
        </p:txBody>
      </p:sp>
      <p:sp>
        <p:nvSpPr>
          <p:cNvPr id="27" name="Text_2_27"/>
          <p:cNvSpPr txBox="1"/>
          <p:nvPr/>
        </p:nvSpPr>
        <p:spPr>
          <a:xfrm>
            <a:off x="7835900" y="3606800"/>
            <a:ext cx="3492500" cy="1270000"/>
          </a:xfrm>
          <a:prstGeom prst="rect">
            <a:avLst/>
          </a:prstGeom>
          <a:noFill/>
        </p:spPr>
        <p:txBody>
          <a:bodyPr vert="horz" wrap="square" lIns="0" tIns="0" rIns="0" bIns="0" rtlCol="0">
            <a:noAutofit/>
          </a:bodyPr>
          <a:lstStyle/>
          <a:p>
            <a:r>
              <a:rPr lang="en-US" sz="2100" smtClean="0">
                <a:solidFill>
                  <a:srgbClr val="083344"/>
                </a:solidFill>
                <a:latin typeface="Calibri"/>
              </a:rPr>
              <a:t>Explore published data
Estimate HDI transparently
Compare scenarios</a:t>
            </a:r>
            <a:endParaRPr lang="en-US" sz="2100">
              <a:solidFill>
                <a:srgbClr val="083344"/>
              </a:solidFill>
              <a:latin typeface="Calibri"/>
            </a:endParaRPr>
          </a:p>
        </p:txBody>
      </p:sp>
      <p:sp>
        <p:nvSpPr>
          <p:cNvPr id="28" name="Text_2_28"/>
          <p:cNvSpPr txBox="1"/>
          <p:nvPr/>
        </p:nvSpPr>
        <p:spPr>
          <a:xfrm>
            <a:off x="7543800" y="5727700"/>
            <a:ext cx="4089400" cy="546100"/>
          </a:xfrm>
          <a:prstGeom prst="rect">
            <a:avLst/>
          </a:prstGeom>
          <a:noFill/>
        </p:spPr>
        <p:txBody>
          <a:bodyPr vert="horz" wrap="square" lIns="0" tIns="0" rIns="0" bIns="0" rtlCol="0">
            <a:noAutofit/>
          </a:bodyPr>
          <a:lstStyle/>
          <a:p>
            <a:r>
              <a:rPr lang="en-US" sz="1400" smtClean="0">
                <a:solidFill>
                  <a:srgbClr val="426773"/>
                </a:solidFill>
                <a:latin typeface="Calibri"/>
              </a:rPr>
              <a:t>Estimates use same-year indicators.
Future forecasting is outside the scope.</a:t>
            </a:r>
            <a:endParaRPr lang="en-US" sz="140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PROBLEM &amp; OBJECTIVES</a:t>
            </a:r>
            <a:endParaRPr lang="en-US" sz="1200" b="1">
              <a:solidFill>
                <a:srgbClr val="0891B2"/>
              </a:solidFill>
              <a:latin typeface="Calibri"/>
            </a:endParaRPr>
          </a:p>
        </p:txBody>
      </p:sp>
      <p:sp>
        <p:nvSpPr>
          <p:cNvPr id="3" name="Text_3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Project objectives</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3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3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3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03</a:t>
            </a:r>
            <a:endParaRPr lang="en-US" sz="1100" b="1">
              <a:solidFill>
                <a:srgbClr val="0891B2"/>
              </a:solidFill>
              <a:latin typeface="Calibri"/>
            </a:endParaRPr>
          </a:p>
        </p:txBody>
      </p:sp>
      <p:sp>
        <p:nvSpPr>
          <p:cNvPr id="8" name="Rounded Rectangle 7"/>
          <p:cNvSpPr/>
          <p:nvPr/>
        </p:nvSpPr>
        <p:spPr>
          <a:xfrm>
            <a:off x="558800" y="1905000"/>
            <a:ext cx="3556000" cy="1905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_3_9"/>
          <p:cNvSpPr txBox="1"/>
          <p:nvPr/>
        </p:nvSpPr>
        <p:spPr>
          <a:xfrm>
            <a:off x="812800" y="2082800"/>
            <a:ext cx="1016000" cy="444500"/>
          </a:xfrm>
          <a:prstGeom prst="rect">
            <a:avLst/>
          </a:prstGeom>
          <a:noFill/>
        </p:spPr>
        <p:txBody>
          <a:bodyPr vert="horz" wrap="square" lIns="0" tIns="0" rIns="0" bIns="0" rtlCol="0">
            <a:noAutofit/>
          </a:bodyPr>
          <a:lstStyle/>
          <a:p>
            <a:r>
              <a:rPr lang="en-US" sz="2600" b="1" smtClean="0">
                <a:solidFill>
                  <a:srgbClr val="0891B2"/>
                </a:solidFill>
                <a:latin typeface="Calibri"/>
              </a:rPr>
              <a:t>01</a:t>
            </a:r>
            <a:endParaRPr lang="en-US" sz="2600" b="1">
              <a:solidFill>
                <a:srgbClr val="0891B2"/>
              </a:solidFill>
              <a:latin typeface="Calibri"/>
            </a:endParaRPr>
          </a:p>
        </p:txBody>
      </p:sp>
      <p:sp>
        <p:nvSpPr>
          <p:cNvPr id="10" name="Text_3_10"/>
          <p:cNvSpPr txBox="1"/>
          <p:nvPr/>
        </p:nvSpPr>
        <p:spPr>
          <a:xfrm>
            <a:off x="812800" y="2628900"/>
            <a:ext cx="3098800" cy="368300"/>
          </a:xfrm>
          <a:prstGeom prst="rect">
            <a:avLst/>
          </a:prstGeom>
          <a:noFill/>
        </p:spPr>
        <p:txBody>
          <a:bodyPr vert="horz" wrap="square" lIns="0" tIns="0" rIns="0" bIns="0" rtlCol="0">
            <a:noAutofit/>
          </a:bodyPr>
          <a:lstStyle/>
          <a:p>
            <a:r>
              <a:rPr lang="en-US" sz="2100" b="1" smtClean="0">
                <a:solidFill>
                  <a:srgbClr val="083344"/>
                </a:solidFill>
                <a:latin typeface="Calibri"/>
              </a:rPr>
              <a:t>Explore</a:t>
            </a:r>
            <a:endParaRPr lang="en-US" sz="2100" b="1">
              <a:solidFill>
                <a:srgbClr val="083344"/>
              </a:solidFill>
              <a:latin typeface="Calibri"/>
            </a:endParaRPr>
          </a:p>
        </p:txBody>
      </p:sp>
      <p:sp>
        <p:nvSpPr>
          <p:cNvPr id="11" name="Text_3_11"/>
          <p:cNvSpPr txBox="1"/>
          <p:nvPr/>
        </p:nvSpPr>
        <p:spPr>
          <a:xfrm>
            <a:off x="812800" y="3098800"/>
            <a:ext cx="3098800" cy="546100"/>
          </a:xfrm>
          <a:prstGeom prst="rect">
            <a:avLst/>
          </a:prstGeom>
          <a:noFill/>
        </p:spPr>
        <p:txBody>
          <a:bodyPr vert="horz" wrap="square" lIns="0" tIns="0" rIns="0" bIns="0" rtlCol="0">
            <a:noAutofit/>
          </a:bodyPr>
          <a:lstStyle/>
          <a:p>
            <a:r>
              <a:rPr lang="en-US" sz="1700" smtClean="0">
                <a:solidFill>
                  <a:srgbClr val="426773"/>
                </a:solidFill>
                <a:latin typeface="Calibri"/>
              </a:rPr>
              <a:t>Published UNDP country data</a:t>
            </a:r>
            <a:endParaRPr lang="en-US" sz="1700">
              <a:solidFill>
                <a:srgbClr val="426773"/>
              </a:solidFill>
              <a:latin typeface="Calibri"/>
            </a:endParaRPr>
          </a:p>
        </p:txBody>
      </p:sp>
      <p:sp>
        <p:nvSpPr>
          <p:cNvPr id="12" name="Rounded Rectangle 11"/>
          <p:cNvSpPr/>
          <p:nvPr/>
        </p:nvSpPr>
        <p:spPr>
          <a:xfrm>
            <a:off x="4318000" y="1905000"/>
            <a:ext cx="3556000" cy="1905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_3_13"/>
          <p:cNvSpPr txBox="1"/>
          <p:nvPr/>
        </p:nvSpPr>
        <p:spPr>
          <a:xfrm>
            <a:off x="4572000" y="2082800"/>
            <a:ext cx="1016000" cy="444500"/>
          </a:xfrm>
          <a:prstGeom prst="rect">
            <a:avLst/>
          </a:prstGeom>
          <a:noFill/>
        </p:spPr>
        <p:txBody>
          <a:bodyPr vert="horz" wrap="square" lIns="0" tIns="0" rIns="0" bIns="0" rtlCol="0">
            <a:noAutofit/>
          </a:bodyPr>
          <a:lstStyle/>
          <a:p>
            <a:r>
              <a:rPr lang="en-US" sz="2600" b="1" smtClean="0">
                <a:solidFill>
                  <a:srgbClr val="0891B2"/>
                </a:solidFill>
                <a:latin typeface="Calibri"/>
              </a:rPr>
              <a:t>02</a:t>
            </a:r>
            <a:endParaRPr lang="en-US" sz="2600" b="1">
              <a:solidFill>
                <a:srgbClr val="0891B2"/>
              </a:solidFill>
              <a:latin typeface="Calibri"/>
            </a:endParaRPr>
          </a:p>
        </p:txBody>
      </p:sp>
      <p:sp>
        <p:nvSpPr>
          <p:cNvPr id="14" name="Text_3_14"/>
          <p:cNvSpPr txBox="1"/>
          <p:nvPr/>
        </p:nvSpPr>
        <p:spPr>
          <a:xfrm>
            <a:off x="4572000" y="2628900"/>
            <a:ext cx="3098800" cy="368300"/>
          </a:xfrm>
          <a:prstGeom prst="rect">
            <a:avLst/>
          </a:prstGeom>
          <a:noFill/>
        </p:spPr>
        <p:txBody>
          <a:bodyPr vert="horz" wrap="square" lIns="0" tIns="0" rIns="0" bIns="0" rtlCol="0">
            <a:noAutofit/>
          </a:bodyPr>
          <a:lstStyle/>
          <a:p>
            <a:r>
              <a:rPr lang="en-US" sz="2100" b="1" smtClean="0">
                <a:solidFill>
                  <a:srgbClr val="083344"/>
                </a:solidFill>
                <a:latin typeface="Calibri"/>
              </a:rPr>
              <a:t>Estimate</a:t>
            </a:r>
            <a:endParaRPr lang="en-US" sz="2100" b="1">
              <a:solidFill>
                <a:srgbClr val="083344"/>
              </a:solidFill>
              <a:latin typeface="Calibri"/>
            </a:endParaRPr>
          </a:p>
        </p:txBody>
      </p:sp>
      <p:sp>
        <p:nvSpPr>
          <p:cNvPr id="15" name="Text_3_15"/>
          <p:cNvSpPr txBox="1"/>
          <p:nvPr/>
        </p:nvSpPr>
        <p:spPr>
          <a:xfrm>
            <a:off x="4572000" y="3098800"/>
            <a:ext cx="3098800" cy="546100"/>
          </a:xfrm>
          <a:prstGeom prst="rect">
            <a:avLst/>
          </a:prstGeom>
          <a:noFill/>
        </p:spPr>
        <p:txBody>
          <a:bodyPr vert="horz" wrap="square" lIns="0" tIns="0" rIns="0" bIns="0" rtlCol="0">
            <a:noAutofit/>
          </a:bodyPr>
          <a:lstStyle/>
          <a:p>
            <a:r>
              <a:rPr lang="en-US" sz="1700" smtClean="0">
                <a:solidFill>
                  <a:srgbClr val="426773"/>
                </a:solidFill>
                <a:latin typeface="Calibri"/>
              </a:rPr>
              <a:t>HDI using a trained ML model</a:t>
            </a:r>
            <a:endParaRPr lang="en-US" sz="1700">
              <a:solidFill>
                <a:srgbClr val="426773"/>
              </a:solidFill>
              <a:latin typeface="Calibri"/>
            </a:endParaRPr>
          </a:p>
        </p:txBody>
      </p:sp>
      <p:sp>
        <p:nvSpPr>
          <p:cNvPr id="16" name="Rounded Rectangle 15"/>
          <p:cNvSpPr/>
          <p:nvPr/>
        </p:nvSpPr>
        <p:spPr>
          <a:xfrm>
            <a:off x="8077200" y="1905000"/>
            <a:ext cx="3556000" cy="1905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_3_17"/>
          <p:cNvSpPr txBox="1"/>
          <p:nvPr/>
        </p:nvSpPr>
        <p:spPr>
          <a:xfrm>
            <a:off x="8331200" y="2082800"/>
            <a:ext cx="1016000" cy="444500"/>
          </a:xfrm>
          <a:prstGeom prst="rect">
            <a:avLst/>
          </a:prstGeom>
          <a:noFill/>
        </p:spPr>
        <p:txBody>
          <a:bodyPr vert="horz" wrap="square" lIns="0" tIns="0" rIns="0" bIns="0" rtlCol="0">
            <a:noAutofit/>
          </a:bodyPr>
          <a:lstStyle/>
          <a:p>
            <a:r>
              <a:rPr lang="en-US" sz="2600" b="1" smtClean="0">
                <a:solidFill>
                  <a:srgbClr val="0891B2"/>
                </a:solidFill>
                <a:latin typeface="Calibri"/>
              </a:rPr>
              <a:t>03</a:t>
            </a:r>
            <a:endParaRPr lang="en-US" sz="2600" b="1">
              <a:solidFill>
                <a:srgbClr val="0891B2"/>
              </a:solidFill>
              <a:latin typeface="Calibri"/>
            </a:endParaRPr>
          </a:p>
        </p:txBody>
      </p:sp>
      <p:sp>
        <p:nvSpPr>
          <p:cNvPr id="18" name="Text_3_18"/>
          <p:cNvSpPr txBox="1"/>
          <p:nvPr/>
        </p:nvSpPr>
        <p:spPr>
          <a:xfrm>
            <a:off x="8331200" y="2628900"/>
            <a:ext cx="3098800" cy="368300"/>
          </a:xfrm>
          <a:prstGeom prst="rect">
            <a:avLst/>
          </a:prstGeom>
          <a:noFill/>
        </p:spPr>
        <p:txBody>
          <a:bodyPr vert="horz" wrap="square" lIns="0" tIns="0" rIns="0" bIns="0" rtlCol="0">
            <a:noAutofit/>
          </a:bodyPr>
          <a:lstStyle/>
          <a:p>
            <a:r>
              <a:rPr lang="en-US" sz="2100" b="1" smtClean="0">
                <a:solidFill>
                  <a:srgbClr val="083344"/>
                </a:solidFill>
                <a:latin typeface="Calibri"/>
              </a:rPr>
              <a:t>Compare</a:t>
            </a:r>
            <a:endParaRPr lang="en-US" sz="2100" b="1">
              <a:solidFill>
                <a:srgbClr val="083344"/>
              </a:solidFill>
              <a:latin typeface="Calibri"/>
            </a:endParaRPr>
          </a:p>
        </p:txBody>
      </p:sp>
      <p:sp>
        <p:nvSpPr>
          <p:cNvPr id="19" name="Text_3_19"/>
          <p:cNvSpPr txBox="1"/>
          <p:nvPr/>
        </p:nvSpPr>
        <p:spPr>
          <a:xfrm>
            <a:off x="8331200" y="3098800"/>
            <a:ext cx="3098800" cy="546100"/>
          </a:xfrm>
          <a:prstGeom prst="rect">
            <a:avLst/>
          </a:prstGeom>
          <a:noFill/>
        </p:spPr>
        <p:txBody>
          <a:bodyPr vert="horz" wrap="square" lIns="0" tIns="0" rIns="0" bIns="0" rtlCol="0">
            <a:noAutofit/>
          </a:bodyPr>
          <a:lstStyle/>
          <a:p>
            <a:r>
              <a:rPr lang="en-US" sz="1700" smtClean="0">
                <a:solidFill>
                  <a:srgbClr val="426773"/>
                </a:solidFill>
                <a:latin typeface="Calibri"/>
              </a:rPr>
              <a:t>Historical development indicators</a:t>
            </a:r>
            <a:endParaRPr lang="en-US" sz="1700">
              <a:solidFill>
                <a:srgbClr val="426773"/>
              </a:solidFill>
              <a:latin typeface="Calibri"/>
            </a:endParaRPr>
          </a:p>
        </p:txBody>
      </p:sp>
      <p:sp>
        <p:nvSpPr>
          <p:cNvPr id="20" name="Rounded Rectangle 19"/>
          <p:cNvSpPr/>
          <p:nvPr/>
        </p:nvSpPr>
        <p:spPr>
          <a:xfrm>
            <a:off x="2438400" y="4127500"/>
            <a:ext cx="3556000" cy="1905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_3_21"/>
          <p:cNvSpPr txBox="1"/>
          <p:nvPr/>
        </p:nvSpPr>
        <p:spPr>
          <a:xfrm>
            <a:off x="2692400" y="4305300"/>
            <a:ext cx="1016000" cy="444500"/>
          </a:xfrm>
          <a:prstGeom prst="rect">
            <a:avLst/>
          </a:prstGeom>
          <a:noFill/>
        </p:spPr>
        <p:txBody>
          <a:bodyPr vert="horz" wrap="square" lIns="0" tIns="0" rIns="0" bIns="0" rtlCol="0">
            <a:noAutofit/>
          </a:bodyPr>
          <a:lstStyle/>
          <a:p>
            <a:r>
              <a:rPr lang="en-US" sz="2600" b="1" smtClean="0">
                <a:solidFill>
                  <a:srgbClr val="0891B2"/>
                </a:solidFill>
                <a:latin typeface="Calibri"/>
              </a:rPr>
              <a:t>04</a:t>
            </a:r>
            <a:endParaRPr lang="en-US" sz="2600" b="1">
              <a:solidFill>
                <a:srgbClr val="0891B2"/>
              </a:solidFill>
              <a:latin typeface="Calibri"/>
            </a:endParaRPr>
          </a:p>
        </p:txBody>
      </p:sp>
      <p:sp>
        <p:nvSpPr>
          <p:cNvPr id="22" name="Text_3_22"/>
          <p:cNvSpPr txBox="1"/>
          <p:nvPr/>
        </p:nvSpPr>
        <p:spPr>
          <a:xfrm>
            <a:off x="2692400" y="4851400"/>
            <a:ext cx="3098800" cy="368300"/>
          </a:xfrm>
          <a:prstGeom prst="rect">
            <a:avLst/>
          </a:prstGeom>
          <a:noFill/>
        </p:spPr>
        <p:txBody>
          <a:bodyPr vert="horz" wrap="square" lIns="0" tIns="0" rIns="0" bIns="0" rtlCol="0">
            <a:noAutofit/>
          </a:bodyPr>
          <a:lstStyle/>
          <a:p>
            <a:r>
              <a:rPr lang="en-US" sz="2100" b="1" smtClean="0">
                <a:solidFill>
                  <a:srgbClr val="083344"/>
                </a:solidFill>
                <a:latin typeface="Calibri"/>
              </a:rPr>
              <a:t>Analyze scenarios</a:t>
            </a:r>
            <a:endParaRPr lang="en-US" sz="2100" b="1">
              <a:solidFill>
                <a:srgbClr val="083344"/>
              </a:solidFill>
              <a:latin typeface="Calibri"/>
            </a:endParaRPr>
          </a:p>
        </p:txBody>
      </p:sp>
      <p:sp>
        <p:nvSpPr>
          <p:cNvPr id="23" name="Text_3_23"/>
          <p:cNvSpPr txBox="1"/>
          <p:nvPr/>
        </p:nvSpPr>
        <p:spPr>
          <a:xfrm>
            <a:off x="2692400" y="5321300"/>
            <a:ext cx="3098800" cy="546100"/>
          </a:xfrm>
          <a:prstGeom prst="rect">
            <a:avLst/>
          </a:prstGeom>
          <a:noFill/>
        </p:spPr>
        <p:txBody>
          <a:bodyPr vert="horz" wrap="square" lIns="0" tIns="0" rIns="0" bIns="0" rtlCol="0">
            <a:noAutofit/>
          </a:bodyPr>
          <a:lstStyle/>
          <a:p>
            <a:r>
              <a:rPr lang="en-US" sz="1700" smtClean="0">
                <a:solidFill>
                  <a:srgbClr val="426773"/>
                </a:solidFill>
                <a:latin typeface="Calibri"/>
              </a:rPr>
              <a:t>Hypothetical changes in inputs</a:t>
            </a:r>
            <a:endParaRPr lang="en-US" sz="1700">
              <a:solidFill>
                <a:srgbClr val="426773"/>
              </a:solidFill>
              <a:latin typeface="Calibri"/>
            </a:endParaRPr>
          </a:p>
        </p:txBody>
      </p:sp>
      <p:sp>
        <p:nvSpPr>
          <p:cNvPr id="24" name="Rounded Rectangle 23"/>
          <p:cNvSpPr/>
          <p:nvPr/>
        </p:nvSpPr>
        <p:spPr>
          <a:xfrm>
            <a:off x="6197600" y="4127500"/>
            <a:ext cx="3556000" cy="1905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_3_25"/>
          <p:cNvSpPr txBox="1"/>
          <p:nvPr/>
        </p:nvSpPr>
        <p:spPr>
          <a:xfrm>
            <a:off x="6451600" y="4305300"/>
            <a:ext cx="1016000" cy="444500"/>
          </a:xfrm>
          <a:prstGeom prst="rect">
            <a:avLst/>
          </a:prstGeom>
          <a:noFill/>
        </p:spPr>
        <p:txBody>
          <a:bodyPr vert="horz" wrap="square" lIns="0" tIns="0" rIns="0" bIns="0" rtlCol="0">
            <a:noAutofit/>
          </a:bodyPr>
          <a:lstStyle/>
          <a:p>
            <a:r>
              <a:rPr lang="en-US" sz="2600" b="1" smtClean="0">
                <a:solidFill>
                  <a:srgbClr val="0891B2"/>
                </a:solidFill>
                <a:latin typeface="Calibri"/>
              </a:rPr>
              <a:t>05</a:t>
            </a:r>
            <a:endParaRPr lang="en-US" sz="2600" b="1">
              <a:solidFill>
                <a:srgbClr val="0891B2"/>
              </a:solidFill>
              <a:latin typeface="Calibri"/>
            </a:endParaRPr>
          </a:p>
        </p:txBody>
      </p:sp>
      <p:sp>
        <p:nvSpPr>
          <p:cNvPr id="26" name="Text_3_26"/>
          <p:cNvSpPr txBox="1"/>
          <p:nvPr/>
        </p:nvSpPr>
        <p:spPr>
          <a:xfrm>
            <a:off x="6451600" y="4851400"/>
            <a:ext cx="3098800" cy="368300"/>
          </a:xfrm>
          <a:prstGeom prst="rect">
            <a:avLst/>
          </a:prstGeom>
          <a:noFill/>
        </p:spPr>
        <p:txBody>
          <a:bodyPr vert="horz" wrap="square" lIns="0" tIns="0" rIns="0" bIns="0" rtlCol="0">
            <a:noAutofit/>
          </a:bodyPr>
          <a:lstStyle/>
          <a:p>
            <a:r>
              <a:rPr lang="en-US" sz="2100" b="1" smtClean="0">
                <a:solidFill>
                  <a:srgbClr val="083344"/>
                </a:solidFill>
                <a:latin typeface="Calibri"/>
              </a:rPr>
              <a:t>Explain transparently</a:t>
            </a:r>
            <a:endParaRPr lang="en-US" sz="2100" b="1">
              <a:solidFill>
                <a:srgbClr val="083344"/>
              </a:solidFill>
              <a:latin typeface="Calibri"/>
            </a:endParaRPr>
          </a:p>
        </p:txBody>
      </p:sp>
      <p:sp>
        <p:nvSpPr>
          <p:cNvPr id="27" name="Text_3_27"/>
          <p:cNvSpPr txBox="1"/>
          <p:nvPr/>
        </p:nvSpPr>
        <p:spPr>
          <a:xfrm>
            <a:off x="6451600" y="5321300"/>
            <a:ext cx="3098800" cy="546100"/>
          </a:xfrm>
          <a:prstGeom prst="rect">
            <a:avLst/>
          </a:prstGeom>
          <a:noFill/>
        </p:spPr>
        <p:txBody>
          <a:bodyPr vert="horz" wrap="square" lIns="0" tIns="0" rIns="0" bIns="0" rtlCol="0">
            <a:noAutofit/>
          </a:bodyPr>
          <a:lstStyle/>
          <a:p>
            <a:r>
              <a:rPr lang="en-US" sz="1700" smtClean="0">
                <a:solidFill>
                  <a:srgbClr val="426773"/>
                </a:solidFill>
                <a:latin typeface="Calibri"/>
              </a:rPr>
              <a:t>Formula, metrics and optional AI</a:t>
            </a:r>
            <a:endParaRPr lang="en-US" sz="170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4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METHODOLOGY / APPROACH</a:t>
            </a:r>
            <a:endParaRPr lang="en-US" sz="1200" b="1">
              <a:solidFill>
                <a:srgbClr val="0891B2"/>
              </a:solidFill>
              <a:latin typeface="Calibri"/>
            </a:endParaRPr>
          </a:p>
        </p:txBody>
      </p:sp>
      <p:sp>
        <p:nvSpPr>
          <p:cNvPr id="3" name="Text_4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Methodology and system approach</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4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4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4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04</a:t>
            </a:r>
            <a:endParaRPr lang="en-US" sz="1100" b="1">
              <a:solidFill>
                <a:srgbClr val="0891B2"/>
              </a:solidFill>
              <a:latin typeface="Calibri"/>
            </a:endParaRPr>
          </a:p>
        </p:txBody>
      </p:sp>
      <p:sp>
        <p:nvSpPr>
          <p:cNvPr id="8" name="Rounded Rectangle 7"/>
          <p:cNvSpPr/>
          <p:nvPr/>
        </p:nvSpPr>
        <p:spPr>
          <a:xfrm>
            <a:off x="558800" y="1955800"/>
            <a:ext cx="2032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_4_9"/>
          <p:cNvSpPr txBox="1"/>
          <p:nvPr/>
        </p:nvSpPr>
        <p:spPr>
          <a:xfrm>
            <a:off x="685800" y="20447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1</a:t>
            </a:r>
            <a:endParaRPr lang="en-US" sz="1200" b="1">
              <a:solidFill>
                <a:srgbClr val="0891B2"/>
              </a:solidFill>
              <a:latin typeface="Calibri"/>
            </a:endParaRPr>
          </a:p>
        </p:txBody>
      </p:sp>
      <p:sp>
        <p:nvSpPr>
          <p:cNvPr id="10" name="Text_4_10"/>
          <p:cNvSpPr txBox="1"/>
          <p:nvPr/>
        </p:nvSpPr>
        <p:spPr>
          <a:xfrm>
            <a:off x="685800" y="2349500"/>
            <a:ext cx="1841500" cy="279400"/>
          </a:xfrm>
          <a:prstGeom prst="rect">
            <a:avLst/>
          </a:prstGeom>
          <a:noFill/>
        </p:spPr>
        <p:txBody>
          <a:bodyPr vert="horz" wrap="square" lIns="0" tIns="0" rIns="0" bIns="0" rtlCol="0">
            <a:noAutofit/>
          </a:bodyPr>
          <a:lstStyle/>
          <a:p>
            <a:r>
              <a:rPr lang="en-US" sz="1550" b="1" smtClean="0">
                <a:solidFill>
                  <a:srgbClr val="083344"/>
                </a:solidFill>
                <a:latin typeface="Calibri"/>
              </a:rPr>
              <a:t>UNDP dataset</a:t>
            </a:r>
            <a:endParaRPr lang="en-US" sz="1550" b="1">
              <a:solidFill>
                <a:srgbClr val="083344"/>
              </a:solidFill>
              <a:latin typeface="Calibri"/>
            </a:endParaRPr>
          </a:p>
        </p:txBody>
      </p:sp>
      <p:sp>
        <p:nvSpPr>
          <p:cNvPr id="11" name="Text_4_11"/>
          <p:cNvSpPr txBox="1"/>
          <p:nvPr/>
        </p:nvSpPr>
        <p:spPr>
          <a:xfrm>
            <a:off x="685800" y="2679700"/>
            <a:ext cx="1841500" cy="228600"/>
          </a:xfrm>
          <a:prstGeom prst="rect">
            <a:avLst/>
          </a:prstGeom>
          <a:noFill/>
        </p:spPr>
        <p:txBody>
          <a:bodyPr vert="horz" wrap="square" lIns="0" tIns="0" rIns="0" bIns="0" rtlCol="0">
            <a:noAutofit/>
          </a:bodyPr>
          <a:lstStyle/>
          <a:p>
            <a:r>
              <a:rPr lang="en-US" sz="1130" smtClean="0">
                <a:solidFill>
                  <a:srgbClr val="426773"/>
                </a:solidFill>
                <a:latin typeface="Calibri"/>
              </a:rPr>
              <a:t>HDR 2025 snapshot</a:t>
            </a:r>
            <a:endParaRPr lang="en-US" sz="1130">
              <a:solidFill>
                <a:srgbClr val="426773"/>
              </a:solidFill>
              <a:latin typeface="Calibri"/>
            </a:endParaRPr>
          </a:p>
        </p:txBody>
      </p:sp>
      <p:cxnSp>
        <p:nvCxnSpPr>
          <p:cNvPr id="12" name="Straight Arrow Connector 11"/>
          <p:cNvCxnSpPr/>
          <p:nvPr/>
        </p:nvCxnSpPr>
        <p:spPr>
          <a:xfrm>
            <a:off x="2590800" y="2463800"/>
            <a:ext cx="2032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2819400" y="1955800"/>
            <a:ext cx="2032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_4_14"/>
          <p:cNvSpPr txBox="1"/>
          <p:nvPr/>
        </p:nvSpPr>
        <p:spPr>
          <a:xfrm>
            <a:off x="2946400" y="20447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2</a:t>
            </a:r>
            <a:endParaRPr lang="en-US" sz="1200" b="1">
              <a:solidFill>
                <a:srgbClr val="0891B2"/>
              </a:solidFill>
              <a:latin typeface="Calibri"/>
            </a:endParaRPr>
          </a:p>
        </p:txBody>
      </p:sp>
      <p:sp>
        <p:nvSpPr>
          <p:cNvPr id="15" name="Text_4_15"/>
          <p:cNvSpPr txBox="1"/>
          <p:nvPr/>
        </p:nvSpPr>
        <p:spPr>
          <a:xfrm>
            <a:off x="2946400" y="2349500"/>
            <a:ext cx="1841500" cy="279400"/>
          </a:xfrm>
          <a:prstGeom prst="rect">
            <a:avLst/>
          </a:prstGeom>
          <a:noFill/>
        </p:spPr>
        <p:txBody>
          <a:bodyPr vert="horz" wrap="square" lIns="0" tIns="0" rIns="0" bIns="0" rtlCol="0">
            <a:noAutofit/>
          </a:bodyPr>
          <a:lstStyle/>
          <a:p>
            <a:r>
              <a:rPr lang="en-US" sz="1550" b="1" smtClean="0">
                <a:solidFill>
                  <a:srgbClr val="083344"/>
                </a:solidFill>
                <a:latin typeface="Calibri"/>
              </a:rPr>
              <a:t>Data cleaning</a:t>
            </a:r>
            <a:endParaRPr lang="en-US" sz="1550" b="1">
              <a:solidFill>
                <a:srgbClr val="083344"/>
              </a:solidFill>
              <a:latin typeface="Calibri"/>
            </a:endParaRPr>
          </a:p>
        </p:txBody>
      </p:sp>
      <p:sp>
        <p:nvSpPr>
          <p:cNvPr id="16" name="Text_4_16"/>
          <p:cNvSpPr txBox="1"/>
          <p:nvPr/>
        </p:nvSpPr>
        <p:spPr>
          <a:xfrm>
            <a:off x="2946400" y="2679700"/>
            <a:ext cx="1841500" cy="228600"/>
          </a:xfrm>
          <a:prstGeom prst="rect">
            <a:avLst/>
          </a:prstGeom>
          <a:noFill/>
        </p:spPr>
        <p:txBody>
          <a:bodyPr vert="horz" wrap="square" lIns="0" tIns="0" rIns="0" bIns="0" rtlCol="0">
            <a:noAutofit/>
          </a:bodyPr>
          <a:lstStyle/>
          <a:p>
            <a:r>
              <a:rPr lang="en-US" sz="1130" smtClean="0">
                <a:solidFill>
                  <a:srgbClr val="426773"/>
                </a:solidFill>
                <a:latin typeface="Calibri"/>
              </a:rPr>
              <a:t>Complete observations</a:t>
            </a:r>
            <a:endParaRPr lang="en-US" sz="1130">
              <a:solidFill>
                <a:srgbClr val="426773"/>
              </a:solidFill>
              <a:latin typeface="Calibri"/>
            </a:endParaRPr>
          </a:p>
        </p:txBody>
      </p:sp>
      <p:cxnSp>
        <p:nvCxnSpPr>
          <p:cNvPr id="17" name="Straight Arrow Connector 16"/>
          <p:cNvCxnSpPr/>
          <p:nvPr/>
        </p:nvCxnSpPr>
        <p:spPr>
          <a:xfrm>
            <a:off x="4851400" y="2463800"/>
            <a:ext cx="2032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5080000" y="1955800"/>
            <a:ext cx="2032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_4_19"/>
          <p:cNvSpPr txBox="1"/>
          <p:nvPr/>
        </p:nvSpPr>
        <p:spPr>
          <a:xfrm>
            <a:off x="5207000" y="20447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3</a:t>
            </a:r>
            <a:endParaRPr lang="en-US" sz="1200" b="1">
              <a:solidFill>
                <a:srgbClr val="0891B2"/>
              </a:solidFill>
              <a:latin typeface="Calibri"/>
            </a:endParaRPr>
          </a:p>
        </p:txBody>
      </p:sp>
      <p:sp>
        <p:nvSpPr>
          <p:cNvPr id="20" name="Text_4_20"/>
          <p:cNvSpPr txBox="1"/>
          <p:nvPr/>
        </p:nvSpPr>
        <p:spPr>
          <a:xfrm>
            <a:off x="5207000" y="2349500"/>
            <a:ext cx="1841500" cy="279400"/>
          </a:xfrm>
          <a:prstGeom prst="rect">
            <a:avLst/>
          </a:prstGeom>
          <a:noFill/>
        </p:spPr>
        <p:txBody>
          <a:bodyPr vert="horz" wrap="square" lIns="0" tIns="0" rIns="0" bIns="0" rtlCol="0">
            <a:noAutofit/>
          </a:bodyPr>
          <a:lstStyle/>
          <a:p>
            <a:r>
              <a:rPr lang="en-US" sz="1550" b="1" smtClean="0">
                <a:solidFill>
                  <a:srgbClr val="083344"/>
                </a:solidFill>
                <a:latin typeface="Calibri"/>
              </a:rPr>
              <a:t>Feature preparation</a:t>
            </a:r>
            <a:endParaRPr lang="en-US" sz="1550" b="1">
              <a:solidFill>
                <a:srgbClr val="083344"/>
              </a:solidFill>
              <a:latin typeface="Calibri"/>
            </a:endParaRPr>
          </a:p>
        </p:txBody>
      </p:sp>
      <p:sp>
        <p:nvSpPr>
          <p:cNvPr id="21" name="Text_4_21"/>
          <p:cNvSpPr txBox="1"/>
          <p:nvPr/>
        </p:nvSpPr>
        <p:spPr>
          <a:xfrm>
            <a:off x="5207000" y="2679700"/>
            <a:ext cx="1841500" cy="228600"/>
          </a:xfrm>
          <a:prstGeom prst="rect">
            <a:avLst/>
          </a:prstGeom>
          <a:noFill/>
        </p:spPr>
        <p:txBody>
          <a:bodyPr vert="horz" wrap="square" lIns="0" tIns="0" rIns="0" bIns="0" rtlCol="0">
            <a:noAutofit/>
          </a:bodyPr>
          <a:lstStyle/>
          <a:p>
            <a:r>
              <a:rPr lang="en-US" sz="1130" smtClean="0">
                <a:solidFill>
                  <a:srgbClr val="426773"/>
                </a:solidFill>
                <a:latin typeface="Calibri"/>
              </a:rPr>
              <a:t>Natural log of income</a:t>
            </a:r>
            <a:endParaRPr lang="en-US" sz="1130">
              <a:solidFill>
                <a:srgbClr val="426773"/>
              </a:solidFill>
              <a:latin typeface="Calibri"/>
            </a:endParaRPr>
          </a:p>
        </p:txBody>
      </p:sp>
      <p:cxnSp>
        <p:nvCxnSpPr>
          <p:cNvPr id="22" name="Straight Arrow Connector 21"/>
          <p:cNvCxnSpPr/>
          <p:nvPr/>
        </p:nvCxnSpPr>
        <p:spPr>
          <a:xfrm>
            <a:off x="7112000" y="2463800"/>
            <a:ext cx="2032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7340600" y="1955800"/>
            <a:ext cx="2032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_4_24"/>
          <p:cNvSpPr txBox="1"/>
          <p:nvPr/>
        </p:nvSpPr>
        <p:spPr>
          <a:xfrm>
            <a:off x="7467600" y="20447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4</a:t>
            </a:r>
            <a:endParaRPr lang="en-US" sz="1200" b="1">
              <a:solidFill>
                <a:srgbClr val="0891B2"/>
              </a:solidFill>
              <a:latin typeface="Calibri"/>
            </a:endParaRPr>
          </a:p>
        </p:txBody>
      </p:sp>
      <p:sp>
        <p:nvSpPr>
          <p:cNvPr id="25" name="Text_4_25"/>
          <p:cNvSpPr txBox="1"/>
          <p:nvPr/>
        </p:nvSpPr>
        <p:spPr>
          <a:xfrm>
            <a:off x="7467600" y="2349500"/>
            <a:ext cx="1841500" cy="279400"/>
          </a:xfrm>
          <a:prstGeom prst="rect">
            <a:avLst/>
          </a:prstGeom>
          <a:noFill/>
        </p:spPr>
        <p:txBody>
          <a:bodyPr vert="horz" wrap="square" lIns="0" tIns="0" rIns="0" bIns="0" rtlCol="0">
            <a:noAutofit/>
          </a:bodyPr>
          <a:lstStyle/>
          <a:p>
            <a:r>
              <a:rPr lang="en-US" sz="1550" b="1" smtClean="0">
                <a:solidFill>
                  <a:srgbClr val="083344"/>
                </a:solidFill>
                <a:latin typeface="Calibri"/>
              </a:rPr>
              <a:t>Country split</a:t>
            </a:r>
            <a:endParaRPr lang="en-US" sz="1550" b="1">
              <a:solidFill>
                <a:srgbClr val="083344"/>
              </a:solidFill>
              <a:latin typeface="Calibri"/>
            </a:endParaRPr>
          </a:p>
        </p:txBody>
      </p:sp>
      <p:sp>
        <p:nvSpPr>
          <p:cNvPr id="26" name="Text_4_26"/>
          <p:cNvSpPr txBox="1"/>
          <p:nvPr/>
        </p:nvSpPr>
        <p:spPr>
          <a:xfrm>
            <a:off x="7467600" y="2679700"/>
            <a:ext cx="1841500" cy="228600"/>
          </a:xfrm>
          <a:prstGeom prst="rect">
            <a:avLst/>
          </a:prstGeom>
          <a:noFill/>
        </p:spPr>
        <p:txBody>
          <a:bodyPr vert="horz" wrap="square" lIns="0" tIns="0" rIns="0" bIns="0" rtlCol="0">
            <a:noAutofit/>
          </a:bodyPr>
          <a:lstStyle/>
          <a:p>
            <a:r>
              <a:rPr lang="en-US" sz="1130" smtClean="0">
                <a:solidFill>
                  <a:srgbClr val="426773"/>
                </a:solidFill>
                <a:latin typeface="Calibri"/>
              </a:rPr>
              <a:t>Train / validation / test</a:t>
            </a:r>
            <a:endParaRPr lang="en-US" sz="1130">
              <a:solidFill>
                <a:srgbClr val="426773"/>
              </a:solidFill>
              <a:latin typeface="Calibri"/>
            </a:endParaRPr>
          </a:p>
        </p:txBody>
      </p:sp>
      <p:cxnSp>
        <p:nvCxnSpPr>
          <p:cNvPr id="27" name="Straight Arrow Connector 26"/>
          <p:cNvCxnSpPr/>
          <p:nvPr/>
        </p:nvCxnSpPr>
        <p:spPr>
          <a:xfrm>
            <a:off x="9372600" y="2463800"/>
            <a:ext cx="2032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9601200" y="1955800"/>
            <a:ext cx="2032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_4_29"/>
          <p:cNvSpPr txBox="1"/>
          <p:nvPr/>
        </p:nvSpPr>
        <p:spPr>
          <a:xfrm>
            <a:off x="9728200" y="20447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5</a:t>
            </a:r>
            <a:endParaRPr lang="en-US" sz="1200" b="1">
              <a:solidFill>
                <a:srgbClr val="0891B2"/>
              </a:solidFill>
              <a:latin typeface="Calibri"/>
            </a:endParaRPr>
          </a:p>
        </p:txBody>
      </p:sp>
      <p:sp>
        <p:nvSpPr>
          <p:cNvPr id="30" name="Text_4_30"/>
          <p:cNvSpPr txBox="1"/>
          <p:nvPr/>
        </p:nvSpPr>
        <p:spPr>
          <a:xfrm>
            <a:off x="9728200" y="2349500"/>
            <a:ext cx="1841500" cy="279400"/>
          </a:xfrm>
          <a:prstGeom prst="rect">
            <a:avLst/>
          </a:prstGeom>
          <a:noFill/>
        </p:spPr>
        <p:txBody>
          <a:bodyPr vert="horz" wrap="square" lIns="0" tIns="0" rIns="0" bIns="0" rtlCol="0">
            <a:noAutofit/>
          </a:bodyPr>
          <a:lstStyle/>
          <a:p>
            <a:r>
              <a:rPr lang="en-US" sz="1550" b="1" smtClean="0">
                <a:solidFill>
                  <a:srgbClr val="083344"/>
                </a:solidFill>
                <a:latin typeface="Calibri"/>
              </a:rPr>
              <a:t>Model comparison</a:t>
            </a:r>
            <a:endParaRPr lang="en-US" sz="1550" b="1">
              <a:solidFill>
                <a:srgbClr val="083344"/>
              </a:solidFill>
              <a:latin typeface="Calibri"/>
            </a:endParaRPr>
          </a:p>
        </p:txBody>
      </p:sp>
      <p:sp>
        <p:nvSpPr>
          <p:cNvPr id="31" name="Text_4_31"/>
          <p:cNvSpPr txBox="1"/>
          <p:nvPr/>
        </p:nvSpPr>
        <p:spPr>
          <a:xfrm>
            <a:off x="9728200" y="2679700"/>
            <a:ext cx="1841500" cy="228600"/>
          </a:xfrm>
          <a:prstGeom prst="rect">
            <a:avLst/>
          </a:prstGeom>
          <a:noFill/>
        </p:spPr>
        <p:txBody>
          <a:bodyPr vert="horz" wrap="square" lIns="0" tIns="0" rIns="0" bIns="0" rtlCol="0">
            <a:noAutofit/>
          </a:bodyPr>
          <a:lstStyle/>
          <a:p>
            <a:r>
              <a:rPr lang="en-US" sz="1130" smtClean="0">
                <a:solidFill>
                  <a:srgbClr val="426773"/>
                </a:solidFill>
                <a:latin typeface="Calibri"/>
              </a:rPr>
              <a:t>Minimum validation MAE</a:t>
            </a:r>
            <a:endParaRPr lang="en-US" sz="1130">
              <a:solidFill>
                <a:srgbClr val="426773"/>
              </a:solidFill>
              <a:latin typeface="Calibri"/>
            </a:endParaRPr>
          </a:p>
        </p:txBody>
      </p:sp>
      <p:cxnSp>
        <p:nvCxnSpPr>
          <p:cNvPr id="32" name="Straight Arrow Connector 31"/>
          <p:cNvCxnSpPr/>
          <p:nvPr/>
        </p:nvCxnSpPr>
        <p:spPr>
          <a:xfrm>
            <a:off x="10617200" y="2971800"/>
            <a:ext cx="0" cy="292100"/>
          </a:xfrm>
          <a:prstGeom prst="straightConnector1">
            <a:avLst/>
          </a:prstGeom>
          <a:ln w="22859">
            <a:solidFill>
              <a:srgbClr val="0891B2"/>
            </a:solidFill>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1828800" y="3263900"/>
            <a:ext cx="8788400" cy="0"/>
          </a:xfrm>
          <a:prstGeom prst="straightConnector1">
            <a:avLst/>
          </a:prstGeom>
          <a:ln w="22859">
            <a:solidFill>
              <a:srgbClr val="0891B2"/>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1828800" y="3263900"/>
            <a:ext cx="0" cy="30480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558800" y="3581400"/>
            <a:ext cx="2540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_4_36"/>
          <p:cNvSpPr txBox="1"/>
          <p:nvPr/>
        </p:nvSpPr>
        <p:spPr>
          <a:xfrm>
            <a:off x="685800" y="36703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6</a:t>
            </a:r>
            <a:endParaRPr lang="en-US" sz="1200" b="1">
              <a:solidFill>
                <a:srgbClr val="0891B2"/>
              </a:solidFill>
              <a:latin typeface="Calibri"/>
            </a:endParaRPr>
          </a:p>
        </p:txBody>
      </p:sp>
      <p:sp>
        <p:nvSpPr>
          <p:cNvPr id="37" name="Text_4_37"/>
          <p:cNvSpPr txBox="1"/>
          <p:nvPr/>
        </p:nvSpPr>
        <p:spPr>
          <a:xfrm>
            <a:off x="685800" y="3962400"/>
            <a:ext cx="2286000" cy="279400"/>
          </a:xfrm>
          <a:prstGeom prst="rect">
            <a:avLst/>
          </a:prstGeom>
          <a:noFill/>
        </p:spPr>
        <p:txBody>
          <a:bodyPr vert="horz" wrap="square" lIns="0" tIns="0" rIns="0" bIns="0" rtlCol="0">
            <a:noAutofit/>
          </a:bodyPr>
          <a:lstStyle/>
          <a:p>
            <a:r>
              <a:rPr lang="en-US" sz="1700" b="1" smtClean="0">
                <a:solidFill>
                  <a:srgbClr val="083344"/>
                </a:solidFill>
                <a:latin typeface="Calibri"/>
              </a:rPr>
              <a:t>Linear Regression</a:t>
            </a:r>
            <a:endParaRPr lang="en-US" sz="1700" b="1">
              <a:solidFill>
                <a:srgbClr val="083344"/>
              </a:solidFill>
              <a:latin typeface="Calibri"/>
            </a:endParaRPr>
          </a:p>
        </p:txBody>
      </p:sp>
      <p:sp>
        <p:nvSpPr>
          <p:cNvPr id="38" name="Text_4_38"/>
          <p:cNvSpPr txBox="1"/>
          <p:nvPr/>
        </p:nvSpPr>
        <p:spPr>
          <a:xfrm>
            <a:off x="685800" y="4318000"/>
            <a:ext cx="2286000" cy="228600"/>
          </a:xfrm>
          <a:prstGeom prst="rect">
            <a:avLst/>
          </a:prstGeom>
          <a:noFill/>
        </p:spPr>
        <p:txBody>
          <a:bodyPr vert="horz" wrap="square" lIns="0" tIns="0" rIns="0" bIns="0" rtlCol="0">
            <a:noAutofit/>
          </a:bodyPr>
          <a:lstStyle/>
          <a:p>
            <a:r>
              <a:rPr lang="en-US" sz="1150" smtClean="0">
                <a:solidFill>
                  <a:srgbClr val="426773"/>
                </a:solidFill>
                <a:latin typeface="Calibri"/>
              </a:rPr>
              <a:t>Refit on development data</a:t>
            </a:r>
            <a:endParaRPr lang="en-US" sz="1150">
              <a:solidFill>
                <a:srgbClr val="426773"/>
              </a:solidFill>
              <a:latin typeface="Calibri"/>
            </a:endParaRPr>
          </a:p>
        </p:txBody>
      </p:sp>
      <p:cxnSp>
        <p:nvCxnSpPr>
          <p:cNvPr id="39" name="Straight Arrow Connector 38"/>
          <p:cNvCxnSpPr/>
          <p:nvPr/>
        </p:nvCxnSpPr>
        <p:spPr>
          <a:xfrm>
            <a:off x="3098800" y="4089400"/>
            <a:ext cx="2413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3378200" y="3581400"/>
            <a:ext cx="2540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_4_41"/>
          <p:cNvSpPr txBox="1"/>
          <p:nvPr/>
        </p:nvSpPr>
        <p:spPr>
          <a:xfrm>
            <a:off x="3505200" y="36703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7</a:t>
            </a:r>
            <a:endParaRPr lang="en-US" sz="1200" b="1">
              <a:solidFill>
                <a:srgbClr val="0891B2"/>
              </a:solidFill>
              <a:latin typeface="Calibri"/>
            </a:endParaRPr>
          </a:p>
        </p:txBody>
      </p:sp>
      <p:sp>
        <p:nvSpPr>
          <p:cNvPr id="42" name="Text_4_42"/>
          <p:cNvSpPr txBox="1"/>
          <p:nvPr/>
        </p:nvSpPr>
        <p:spPr>
          <a:xfrm>
            <a:off x="3505200" y="3962400"/>
            <a:ext cx="2286000" cy="279400"/>
          </a:xfrm>
          <a:prstGeom prst="rect">
            <a:avLst/>
          </a:prstGeom>
          <a:noFill/>
        </p:spPr>
        <p:txBody>
          <a:bodyPr vert="horz" wrap="square" lIns="0" tIns="0" rIns="0" bIns="0" rtlCol="0">
            <a:noAutofit/>
          </a:bodyPr>
          <a:lstStyle/>
          <a:p>
            <a:r>
              <a:rPr lang="en-US" sz="1700" b="1" smtClean="0">
                <a:solidFill>
                  <a:srgbClr val="083344"/>
                </a:solidFill>
                <a:latin typeface="Calibri"/>
              </a:rPr>
              <a:t>Model export</a:t>
            </a:r>
            <a:endParaRPr lang="en-US" sz="1700" b="1">
              <a:solidFill>
                <a:srgbClr val="083344"/>
              </a:solidFill>
              <a:latin typeface="Calibri"/>
            </a:endParaRPr>
          </a:p>
        </p:txBody>
      </p:sp>
      <p:sp>
        <p:nvSpPr>
          <p:cNvPr id="43" name="Text_4_43"/>
          <p:cNvSpPr txBox="1"/>
          <p:nvPr/>
        </p:nvSpPr>
        <p:spPr>
          <a:xfrm>
            <a:off x="3505200" y="4318000"/>
            <a:ext cx="2286000" cy="228600"/>
          </a:xfrm>
          <a:prstGeom prst="rect">
            <a:avLst/>
          </a:prstGeom>
          <a:noFill/>
        </p:spPr>
        <p:txBody>
          <a:bodyPr vert="horz" wrap="square" lIns="0" tIns="0" rIns="0" bIns="0" rtlCol="0">
            <a:noAutofit/>
          </a:bodyPr>
          <a:lstStyle/>
          <a:p>
            <a:r>
              <a:rPr lang="en-US" sz="1150" smtClean="0">
                <a:solidFill>
                  <a:srgbClr val="426773"/>
                </a:solidFill>
                <a:latin typeface="Calibri"/>
              </a:rPr>
              <a:t>Coefficients in JSON</a:t>
            </a:r>
            <a:endParaRPr lang="en-US" sz="1150">
              <a:solidFill>
                <a:srgbClr val="426773"/>
              </a:solidFill>
              <a:latin typeface="Calibri"/>
            </a:endParaRPr>
          </a:p>
        </p:txBody>
      </p:sp>
      <p:cxnSp>
        <p:nvCxnSpPr>
          <p:cNvPr id="44" name="Straight Arrow Connector 43"/>
          <p:cNvCxnSpPr/>
          <p:nvPr/>
        </p:nvCxnSpPr>
        <p:spPr>
          <a:xfrm>
            <a:off x="5918200" y="4089400"/>
            <a:ext cx="2413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6197600" y="3581400"/>
            <a:ext cx="2540000" cy="1016000"/>
          </a:xfrm>
          <a:prstGeom prst="roundRect">
            <a:avLst>
              <a:gd name="adj" fmla="val 8000"/>
            </a:avLst>
          </a:prstGeom>
          <a:solidFill>
            <a:srgbClr val="CFFAFE"/>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_4_46"/>
          <p:cNvSpPr txBox="1"/>
          <p:nvPr/>
        </p:nvSpPr>
        <p:spPr>
          <a:xfrm>
            <a:off x="6324600" y="36703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8</a:t>
            </a:r>
            <a:endParaRPr lang="en-US" sz="1200" b="1">
              <a:solidFill>
                <a:srgbClr val="0891B2"/>
              </a:solidFill>
              <a:latin typeface="Calibri"/>
            </a:endParaRPr>
          </a:p>
        </p:txBody>
      </p:sp>
      <p:sp>
        <p:nvSpPr>
          <p:cNvPr id="47" name="Text_4_47"/>
          <p:cNvSpPr txBox="1"/>
          <p:nvPr/>
        </p:nvSpPr>
        <p:spPr>
          <a:xfrm>
            <a:off x="6324600" y="3962400"/>
            <a:ext cx="2286000" cy="279400"/>
          </a:xfrm>
          <a:prstGeom prst="rect">
            <a:avLst/>
          </a:prstGeom>
          <a:noFill/>
        </p:spPr>
        <p:txBody>
          <a:bodyPr vert="horz" wrap="square" lIns="0" tIns="0" rIns="0" bIns="0" rtlCol="0">
            <a:noAutofit/>
          </a:bodyPr>
          <a:lstStyle/>
          <a:p>
            <a:r>
              <a:rPr lang="en-US" sz="1700" b="1" smtClean="0">
                <a:solidFill>
                  <a:srgbClr val="083344"/>
                </a:solidFill>
                <a:latin typeface="Calibri"/>
              </a:rPr>
              <a:t>React application</a:t>
            </a:r>
            <a:endParaRPr lang="en-US" sz="1700" b="1">
              <a:solidFill>
                <a:srgbClr val="083344"/>
              </a:solidFill>
              <a:latin typeface="Calibri"/>
            </a:endParaRPr>
          </a:p>
        </p:txBody>
      </p:sp>
      <p:sp>
        <p:nvSpPr>
          <p:cNvPr id="48" name="Text_4_48"/>
          <p:cNvSpPr txBox="1"/>
          <p:nvPr/>
        </p:nvSpPr>
        <p:spPr>
          <a:xfrm>
            <a:off x="6324600" y="4318000"/>
            <a:ext cx="2286000" cy="228600"/>
          </a:xfrm>
          <a:prstGeom prst="rect">
            <a:avLst/>
          </a:prstGeom>
          <a:noFill/>
        </p:spPr>
        <p:txBody>
          <a:bodyPr vert="horz" wrap="square" lIns="0" tIns="0" rIns="0" bIns="0" rtlCol="0">
            <a:noAutofit/>
          </a:bodyPr>
          <a:lstStyle/>
          <a:p>
            <a:r>
              <a:rPr lang="en-US" sz="1150" smtClean="0">
                <a:solidFill>
                  <a:srgbClr val="426773"/>
                </a:solidFill>
                <a:latin typeface="Calibri"/>
              </a:rPr>
              <a:t>Shared JavaScript inference</a:t>
            </a:r>
            <a:endParaRPr lang="en-US" sz="1150">
              <a:solidFill>
                <a:srgbClr val="426773"/>
              </a:solidFill>
              <a:latin typeface="Calibri"/>
            </a:endParaRPr>
          </a:p>
        </p:txBody>
      </p:sp>
      <p:cxnSp>
        <p:nvCxnSpPr>
          <p:cNvPr id="49" name="Straight Arrow Connector 48"/>
          <p:cNvCxnSpPr/>
          <p:nvPr/>
        </p:nvCxnSpPr>
        <p:spPr>
          <a:xfrm>
            <a:off x="8737600" y="4089400"/>
            <a:ext cx="2413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50" name="Rounded Rectangle 49"/>
          <p:cNvSpPr/>
          <p:nvPr/>
        </p:nvSpPr>
        <p:spPr>
          <a:xfrm>
            <a:off x="9017000" y="3581400"/>
            <a:ext cx="2540000" cy="10160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_4_51"/>
          <p:cNvSpPr txBox="1"/>
          <p:nvPr/>
        </p:nvSpPr>
        <p:spPr>
          <a:xfrm>
            <a:off x="9144000" y="3670300"/>
            <a:ext cx="254000" cy="254000"/>
          </a:xfrm>
          <a:prstGeom prst="rect">
            <a:avLst/>
          </a:prstGeom>
          <a:noFill/>
        </p:spPr>
        <p:txBody>
          <a:bodyPr vert="horz" wrap="square" lIns="0" tIns="0" rIns="0" bIns="0" rtlCol="0">
            <a:noAutofit/>
          </a:bodyPr>
          <a:lstStyle/>
          <a:p>
            <a:r>
              <a:rPr lang="en-US" sz="1200" b="1" smtClean="0">
                <a:solidFill>
                  <a:srgbClr val="0891B2"/>
                </a:solidFill>
                <a:latin typeface="Calibri"/>
              </a:rPr>
              <a:t>9</a:t>
            </a:r>
            <a:endParaRPr lang="en-US" sz="1200" b="1">
              <a:solidFill>
                <a:srgbClr val="0891B2"/>
              </a:solidFill>
              <a:latin typeface="Calibri"/>
            </a:endParaRPr>
          </a:p>
        </p:txBody>
      </p:sp>
      <p:sp>
        <p:nvSpPr>
          <p:cNvPr id="52" name="Text_4_52"/>
          <p:cNvSpPr txBox="1"/>
          <p:nvPr/>
        </p:nvSpPr>
        <p:spPr>
          <a:xfrm>
            <a:off x="9144000" y="3962400"/>
            <a:ext cx="2286000" cy="279400"/>
          </a:xfrm>
          <a:prstGeom prst="rect">
            <a:avLst/>
          </a:prstGeom>
          <a:noFill/>
        </p:spPr>
        <p:txBody>
          <a:bodyPr vert="horz" wrap="square" lIns="0" tIns="0" rIns="0" bIns="0" rtlCol="0">
            <a:noAutofit/>
          </a:bodyPr>
          <a:lstStyle/>
          <a:p>
            <a:r>
              <a:rPr lang="en-US" sz="1700" b="1" smtClean="0">
                <a:solidFill>
                  <a:srgbClr val="083344"/>
                </a:solidFill>
                <a:latin typeface="Calibri"/>
              </a:rPr>
              <a:t>HDI results</a:t>
            </a:r>
            <a:endParaRPr lang="en-US" sz="1700" b="1">
              <a:solidFill>
                <a:srgbClr val="083344"/>
              </a:solidFill>
              <a:latin typeface="Calibri"/>
            </a:endParaRPr>
          </a:p>
        </p:txBody>
      </p:sp>
      <p:sp>
        <p:nvSpPr>
          <p:cNvPr id="53" name="Text_4_53"/>
          <p:cNvSpPr txBox="1"/>
          <p:nvPr/>
        </p:nvSpPr>
        <p:spPr>
          <a:xfrm>
            <a:off x="9144000" y="4318000"/>
            <a:ext cx="2286000" cy="228600"/>
          </a:xfrm>
          <a:prstGeom prst="rect">
            <a:avLst/>
          </a:prstGeom>
          <a:noFill/>
        </p:spPr>
        <p:txBody>
          <a:bodyPr vert="horz" wrap="square" lIns="0" tIns="0" rIns="0" bIns="0" rtlCol="0">
            <a:noAutofit/>
          </a:bodyPr>
          <a:lstStyle/>
          <a:p>
            <a:r>
              <a:rPr lang="en-US" sz="1150" smtClean="0">
                <a:solidFill>
                  <a:srgbClr val="426773"/>
                </a:solidFill>
                <a:latin typeface="Calibri"/>
              </a:rPr>
              <a:t>Predictions and visualizations</a:t>
            </a:r>
            <a:endParaRPr lang="en-US" sz="1150">
              <a:solidFill>
                <a:srgbClr val="426773"/>
              </a:solidFill>
              <a:latin typeface="Calibri"/>
            </a:endParaRPr>
          </a:p>
        </p:txBody>
      </p:sp>
      <p:sp>
        <p:nvSpPr>
          <p:cNvPr id="54" name="Text_4_54"/>
          <p:cNvSpPr txBox="1"/>
          <p:nvPr/>
        </p:nvSpPr>
        <p:spPr>
          <a:xfrm>
            <a:off x="558800" y="5156200"/>
            <a:ext cx="3556000" cy="279400"/>
          </a:xfrm>
          <a:prstGeom prst="rect">
            <a:avLst/>
          </a:prstGeom>
          <a:noFill/>
        </p:spPr>
        <p:txBody>
          <a:bodyPr vert="horz" wrap="square" lIns="0" tIns="0" rIns="0" bIns="0" rtlCol="0">
            <a:noAutofit/>
          </a:bodyPr>
          <a:lstStyle/>
          <a:p>
            <a:r>
              <a:rPr lang="en-US" sz="1300" b="1" smtClean="0">
                <a:solidFill>
                  <a:srgbClr val="0891B2"/>
                </a:solidFill>
                <a:latin typeface="Calibri"/>
              </a:rPr>
              <a:t>OPTIONAL AI BRANCH</a:t>
            </a:r>
            <a:endParaRPr lang="en-US" sz="1300" b="1">
              <a:solidFill>
                <a:srgbClr val="0891B2"/>
              </a:solidFill>
              <a:latin typeface="Calibri"/>
            </a:endParaRPr>
          </a:p>
        </p:txBody>
      </p:sp>
      <p:sp>
        <p:nvSpPr>
          <p:cNvPr id="55" name="Text_4_55"/>
          <p:cNvSpPr txBox="1"/>
          <p:nvPr/>
        </p:nvSpPr>
        <p:spPr>
          <a:xfrm>
            <a:off x="558800" y="5562600"/>
            <a:ext cx="4445000" cy="609600"/>
          </a:xfrm>
          <a:prstGeom prst="rect">
            <a:avLst/>
          </a:prstGeom>
          <a:noFill/>
        </p:spPr>
        <p:txBody>
          <a:bodyPr vert="horz" wrap="square" lIns="0" tIns="0" rIns="0" bIns="0" rtlCol="0">
            <a:noAutofit/>
          </a:bodyPr>
          <a:lstStyle/>
          <a:p>
            <a:r>
              <a:rPr lang="en-US" sz="1900" b="1" smtClean="0">
                <a:solidFill>
                  <a:srgbClr val="083344"/>
                </a:solidFill>
                <a:latin typeface="Calibri"/>
              </a:rPr>
              <a:t>Numerical prediction works
in the browser without Groq.</a:t>
            </a:r>
            <a:endParaRPr lang="en-US" sz="1900" b="1">
              <a:solidFill>
                <a:srgbClr val="083344"/>
              </a:solidFill>
              <a:latin typeface="Calibri"/>
            </a:endParaRPr>
          </a:p>
        </p:txBody>
      </p:sp>
      <p:cxnSp>
        <p:nvCxnSpPr>
          <p:cNvPr id="56" name="Straight Arrow Connector 55"/>
          <p:cNvCxnSpPr/>
          <p:nvPr/>
        </p:nvCxnSpPr>
        <p:spPr>
          <a:xfrm>
            <a:off x="7467600" y="4597400"/>
            <a:ext cx="0" cy="50800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57" name="Rounded Rectangle 56"/>
          <p:cNvSpPr/>
          <p:nvPr/>
        </p:nvSpPr>
        <p:spPr>
          <a:xfrm>
            <a:off x="5562600" y="5118100"/>
            <a:ext cx="2362200" cy="8001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_4_58"/>
          <p:cNvSpPr txBox="1"/>
          <p:nvPr/>
        </p:nvSpPr>
        <p:spPr>
          <a:xfrm>
            <a:off x="5664200" y="5372100"/>
            <a:ext cx="2159000" cy="317500"/>
          </a:xfrm>
          <a:prstGeom prst="rect">
            <a:avLst/>
          </a:prstGeom>
          <a:noFill/>
        </p:spPr>
        <p:txBody>
          <a:bodyPr vert="horz" wrap="square" lIns="0" tIns="0" rIns="0" bIns="0" rtlCol="0">
            <a:noAutofit/>
          </a:bodyPr>
          <a:lstStyle/>
          <a:p>
            <a:pPr algn="ctr"/>
            <a:r>
              <a:rPr lang="en-US" sz="1500" b="1" smtClean="0">
                <a:solidFill>
                  <a:srgbClr val="083344"/>
                </a:solidFill>
                <a:latin typeface="Calibri"/>
              </a:rPr>
              <a:t>Vercel function</a:t>
            </a:r>
            <a:endParaRPr lang="en-US" sz="1500" b="1">
              <a:solidFill>
                <a:srgbClr val="083344"/>
              </a:solidFill>
              <a:latin typeface="Calibri"/>
            </a:endParaRPr>
          </a:p>
        </p:txBody>
      </p:sp>
      <p:sp>
        <p:nvSpPr>
          <p:cNvPr id="59" name="Rounded Rectangle 58"/>
          <p:cNvSpPr/>
          <p:nvPr/>
        </p:nvSpPr>
        <p:spPr>
          <a:xfrm>
            <a:off x="8204200" y="5118100"/>
            <a:ext cx="1397000" cy="8001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_4_60"/>
          <p:cNvSpPr txBox="1"/>
          <p:nvPr/>
        </p:nvSpPr>
        <p:spPr>
          <a:xfrm>
            <a:off x="8305800" y="5372100"/>
            <a:ext cx="1193800" cy="317500"/>
          </a:xfrm>
          <a:prstGeom prst="rect">
            <a:avLst/>
          </a:prstGeom>
          <a:noFill/>
        </p:spPr>
        <p:txBody>
          <a:bodyPr vert="horz" wrap="square" lIns="0" tIns="0" rIns="0" bIns="0" rtlCol="0">
            <a:noAutofit/>
          </a:bodyPr>
          <a:lstStyle/>
          <a:p>
            <a:pPr algn="ctr"/>
            <a:r>
              <a:rPr lang="en-US" sz="1500" b="1" smtClean="0">
                <a:solidFill>
                  <a:srgbClr val="083344"/>
                </a:solidFill>
                <a:latin typeface="Calibri"/>
              </a:rPr>
              <a:t>Groq API</a:t>
            </a:r>
            <a:endParaRPr lang="en-US" sz="1500" b="1">
              <a:solidFill>
                <a:srgbClr val="083344"/>
              </a:solidFill>
              <a:latin typeface="Calibri"/>
            </a:endParaRPr>
          </a:p>
        </p:txBody>
      </p:sp>
      <p:sp>
        <p:nvSpPr>
          <p:cNvPr id="61" name="Rounded Rectangle 60"/>
          <p:cNvSpPr/>
          <p:nvPr/>
        </p:nvSpPr>
        <p:spPr>
          <a:xfrm>
            <a:off x="9880600" y="5118100"/>
            <a:ext cx="1752600" cy="8001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_4_62"/>
          <p:cNvSpPr txBox="1"/>
          <p:nvPr/>
        </p:nvSpPr>
        <p:spPr>
          <a:xfrm>
            <a:off x="9982200" y="5372100"/>
            <a:ext cx="1549400" cy="317500"/>
          </a:xfrm>
          <a:prstGeom prst="rect">
            <a:avLst/>
          </a:prstGeom>
          <a:noFill/>
        </p:spPr>
        <p:txBody>
          <a:bodyPr vert="horz" wrap="square" lIns="0" tIns="0" rIns="0" bIns="0" rtlCol="0">
            <a:noAutofit/>
          </a:bodyPr>
          <a:lstStyle/>
          <a:p>
            <a:pPr algn="ctr"/>
            <a:r>
              <a:rPr lang="en-US" sz="1500" b="1" smtClean="0">
                <a:solidFill>
                  <a:srgbClr val="083344"/>
                </a:solidFill>
                <a:latin typeface="Calibri"/>
              </a:rPr>
              <a:t>AI explanation</a:t>
            </a:r>
            <a:endParaRPr lang="en-US" sz="1500" b="1">
              <a:solidFill>
                <a:srgbClr val="083344"/>
              </a:solidFill>
              <a:latin typeface="Calibri"/>
            </a:endParaRPr>
          </a:p>
        </p:txBody>
      </p:sp>
      <p:cxnSp>
        <p:nvCxnSpPr>
          <p:cNvPr id="63" name="Straight Arrow Connector 62"/>
          <p:cNvCxnSpPr/>
          <p:nvPr/>
        </p:nvCxnSpPr>
        <p:spPr>
          <a:xfrm>
            <a:off x="7924800" y="5524500"/>
            <a:ext cx="2286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9601200" y="5524500"/>
            <a:ext cx="228600" cy="0"/>
          </a:xfrm>
          <a:prstGeom prst="straightConnector1">
            <a:avLst/>
          </a:prstGeom>
          <a:ln w="22859">
            <a:solidFill>
              <a:srgbClr val="0891B2"/>
            </a:solidFill>
            <a:tailEnd type="arrow"/>
          </a:ln>
        </p:spPr>
        <p:style>
          <a:lnRef idx="1">
            <a:schemeClr val="accent1"/>
          </a:lnRef>
          <a:fillRef idx="0">
            <a:schemeClr val="accent1"/>
          </a:fillRef>
          <a:effectRef idx="0">
            <a:schemeClr val="accent1"/>
          </a:effectRef>
          <a:fontRef idx="minor">
            <a:schemeClr val="tx1"/>
          </a:fontRef>
        </p:style>
      </p:cxnSp>
      <p:sp>
        <p:nvSpPr>
          <p:cNvPr id="65" name="Text_4_65"/>
          <p:cNvSpPr txBox="1"/>
          <p:nvPr/>
        </p:nvSpPr>
        <p:spPr>
          <a:xfrm>
            <a:off x="5562600" y="6045200"/>
            <a:ext cx="6070600" cy="254000"/>
          </a:xfrm>
          <a:prstGeom prst="rect">
            <a:avLst/>
          </a:prstGeom>
          <a:noFill/>
        </p:spPr>
        <p:txBody>
          <a:bodyPr vert="horz" wrap="square" lIns="0" tIns="0" rIns="0" bIns="0" rtlCol="0">
            <a:noAutofit/>
          </a:bodyPr>
          <a:lstStyle/>
          <a:p>
            <a:r>
              <a:rPr lang="en-US" sz="1200" smtClean="0">
                <a:solidFill>
                  <a:srgbClr val="426773"/>
                </a:solidFill>
                <a:latin typeface="Calibri"/>
              </a:rPr>
              <a:t>Personal key, only for an explanation request</a:t>
            </a:r>
            <a:endParaRPr lang="en-US" sz="120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5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METHODOLOGY / APPROACH</a:t>
            </a:r>
            <a:endParaRPr lang="en-US" sz="1200" b="1">
              <a:solidFill>
                <a:srgbClr val="0891B2"/>
              </a:solidFill>
              <a:latin typeface="Calibri"/>
            </a:endParaRPr>
          </a:p>
        </p:txBody>
      </p:sp>
      <p:sp>
        <p:nvSpPr>
          <p:cNvPr id="3" name="Text_5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Dataset and preprocessing</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5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5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5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05</a:t>
            </a:r>
            <a:endParaRPr lang="en-US" sz="1100" b="1">
              <a:solidFill>
                <a:srgbClr val="0891B2"/>
              </a:solidFill>
              <a:latin typeface="Calibri"/>
            </a:endParaRPr>
          </a:p>
        </p:txBody>
      </p:sp>
      <p:sp>
        <p:nvSpPr>
          <p:cNvPr id="8" name="Rounded Rectangle 7"/>
          <p:cNvSpPr/>
          <p:nvPr/>
        </p:nvSpPr>
        <p:spPr>
          <a:xfrm>
            <a:off x="558800" y="1816100"/>
            <a:ext cx="3556000" cy="13462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_5_9"/>
          <p:cNvSpPr txBox="1"/>
          <p:nvPr/>
        </p:nvSpPr>
        <p:spPr>
          <a:xfrm>
            <a:off x="787400" y="1993900"/>
            <a:ext cx="3098800" cy="622300"/>
          </a:xfrm>
          <a:prstGeom prst="rect">
            <a:avLst/>
          </a:prstGeom>
          <a:noFill/>
        </p:spPr>
        <p:txBody>
          <a:bodyPr vert="horz" wrap="square" lIns="0" tIns="0" rIns="0" bIns="0" rtlCol="0">
            <a:noAutofit/>
          </a:bodyPr>
          <a:lstStyle/>
          <a:p>
            <a:r>
              <a:rPr lang="en-US" sz="3900" b="1" smtClean="0">
                <a:solidFill>
                  <a:srgbClr val="0891B2"/>
                </a:solidFill>
                <a:latin typeface="Calibri"/>
              </a:rPr>
              <a:t>193</a:t>
            </a:r>
            <a:endParaRPr lang="en-US" sz="3900" b="1">
              <a:solidFill>
                <a:srgbClr val="0891B2"/>
              </a:solidFill>
              <a:latin typeface="Calibri"/>
            </a:endParaRPr>
          </a:p>
        </p:txBody>
      </p:sp>
      <p:sp>
        <p:nvSpPr>
          <p:cNvPr id="10" name="Text_5_10"/>
          <p:cNvSpPr txBox="1"/>
          <p:nvPr/>
        </p:nvSpPr>
        <p:spPr>
          <a:xfrm>
            <a:off x="787400" y="2667000"/>
            <a:ext cx="3175000" cy="304800"/>
          </a:xfrm>
          <a:prstGeom prst="rect">
            <a:avLst/>
          </a:prstGeom>
          <a:noFill/>
        </p:spPr>
        <p:txBody>
          <a:bodyPr vert="horz" wrap="square" lIns="0" tIns="0" rIns="0" bIns="0" rtlCol="0">
            <a:noAutofit/>
          </a:bodyPr>
          <a:lstStyle/>
          <a:p>
            <a:r>
              <a:rPr lang="en-US" sz="1550" smtClean="0">
                <a:solidFill>
                  <a:srgbClr val="426773"/>
                </a:solidFill>
                <a:latin typeface="Calibri"/>
              </a:rPr>
              <a:t>Countries and territories</a:t>
            </a:r>
            <a:endParaRPr lang="en-US" sz="1550">
              <a:solidFill>
                <a:srgbClr val="426773"/>
              </a:solidFill>
              <a:latin typeface="Calibri"/>
            </a:endParaRPr>
          </a:p>
        </p:txBody>
      </p:sp>
      <p:sp>
        <p:nvSpPr>
          <p:cNvPr id="11" name="Rounded Rectangle 10"/>
          <p:cNvSpPr/>
          <p:nvPr/>
        </p:nvSpPr>
        <p:spPr>
          <a:xfrm>
            <a:off x="4318000" y="1816100"/>
            <a:ext cx="3556000" cy="13462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_5_12"/>
          <p:cNvSpPr txBox="1"/>
          <p:nvPr/>
        </p:nvSpPr>
        <p:spPr>
          <a:xfrm>
            <a:off x="4546600" y="1993900"/>
            <a:ext cx="3098800" cy="622300"/>
          </a:xfrm>
          <a:prstGeom prst="rect">
            <a:avLst/>
          </a:prstGeom>
          <a:noFill/>
        </p:spPr>
        <p:txBody>
          <a:bodyPr vert="horz" wrap="square" lIns="0" tIns="0" rIns="0" bIns="0" rtlCol="0">
            <a:noAutofit/>
          </a:bodyPr>
          <a:lstStyle/>
          <a:p>
            <a:r>
              <a:rPr lang="en-US" sz="3900" b="1" smtClean="0">
                <a:solidFill>
                  <a:srgbClr val="0891B2"/>
                </a:solidFill>
                <a:latin typeface="Calibri"/>
              </a:rPr>
              <a:t>5,940</a:t>
            </a:r>
            <a:endParaRPr lang="en-US" sz="3900" b="1">
              <a:solidFill>
                <a:srgbClr val="0891B2"/>
              </a:solidFill>
              <a:latin typeface="Calibri"/>
            </a:endParaRPr>
          </a:p>
        </p:txBody>
      </p:sp>
      <p:sp>
        <p:nvSpPr>
          <p:cNvPr id="13" name="Text_5_13"/>
          <p:cNvSpPr txBox="1"/>
          <p:nvPr/>
        </p:nvSpPr>
        <p:spPr>
          <a:xfrm>
            <a:off x="4546600" y="2667000"/>
            <a:ext cx="3175000" cy="304800"/>
          </a:xfrm>
          <a:prstGeom prst="rect">
            <a:avLst/>
          </a:prstGeom>
          <a:noFill/>
        </p:spPr>
        <p:txBody>
          <a:bodyPr vert="horz" wrap="square" lIns="0" tIns="0" rIns="0" bIns="0" rtlCol="0">
            <a:noAutofit/>
          </a:bodyPr>
          <a:lstStyle/>
          <a:p>
            <a:r>
              <a:rPr lang="en-US" sz="1550" smtClean="0">
                <a:solidFill>
                  <a:srgbClr val="426773"/>
                </a:solidFill>
                <a:latin typeface="Calibri"/>
              </a:rPr>
              <a:t>Complete country-year records</a:t>
            </a:r>
            <a:endParaRPr lang="en-US" sz="1550">
              <a:solidFill>
                <a:srgbClr val="426773"/>
              </a:solidFill>
              <a:latin typeface="Calibri"/>
            </a:endParaRPr>
          </a:p>
        </p:txBody>
      </p:sp>
      <p:sp>
        <p:nvSpPr>
          <p:cNvPr id="14" name="Rounded Rectangle 13"/>
          <p:cNvSpPr/>
          <p:nvPr/>
        </p:nvSpPr>
        <p:spPr>
          <a:xfrm>
            <a:off x="8077200" y="1816100"/>
            <a:ext cx="3556000" cy="13462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_5_15"/>
          <p:cNvSpPr txBox="1"/>
          <p:nvPr/>
        </p:nvSpPr>
        <p:spPr>
          <a:xfrm>
            <a:off x="8305800" y="1993900"/>
            <a:ext cx="3098800" cy="622300"/>
          </a:xfrm>
          <a:prstGeom prst="rect">
            <a:avLst/>
          </a:prstGeom>
          <a:noFill/>
        </p:spPr>
        <p:txBody>
          <a:bodyPr vert="horz" wrap="square" lIns="0" tIns="0" rIns="0" bIns="0" rtlCol="0">
            <a:noAutofit/>
          </a:bodyPr>
          <a:lstStyle/>
          <a:p>
            <a:r>
              <a:rPr lang="en-US" sz="3300" b="1" smtClean="0">
                <a:solidFill>
                  <a:srgbClr val="0891B2"/>
                </a:solidFill>
                <a:latin typeface="Calibri"/>
              </a:rPr>
              <a:t>1990–2023</a:t>
            </a:r>
            <a:endParaRPr lang="en-US" sz="3300" b="1">
              <a:solidFill>
                <a:srgbClr val="0891B2"/>
              </a:solidFill>
              <a:latin typeface="Calibri"/>
            </a:endParaRPr>
          </a:p>
        </p:txBody>
      </p:sp>
      <p:sp>
        <p:nvSpPr>
          <p:cNvPr id="16" name="Text_5_16"/>
          <p:cNvSpPr txBox="1"/>
          <p:nvPr/>
        </p:nvSpPr>
        <p:spPr>
          <a:xfrm>
            <a:off x="8305800" y="2667000"/>
            <a:ext cx="3175000" cy="304800"/>
          </a:xfrm>
          <a:prstGeom prst="rect">
            <a:avLst/>
          </a:prstGeom>
          <a:noFill/>
        </p:spPr>
        <p:txBody>
          <a:bodyPr vert="horz" wrap="square" lIns="0" tIns="0" rIns="0" bIns="0" rtlCol="0">
            <a:noAutofit/>
          </a:bodyPr>
          <a:lstStyle/>
          <a:p>
            <a:r>
              <a:rPr lang="en-US" sz="1550" smtClean="0">
                <a:solidFill>
                  <a:srgbClr val="426773"/>
                </a:solidFill>
                <a:latin typeface="Calibri"/>
              </a:rPr>
              <a:t>Observation years</a:t>
            </a:r>
            <a:endParaRPr lang="en-US" sz="1550">
              <a:solidFill>
                <a:srgbClr val="426773"/>
              </a:solidFill>
              <a:latin typeface="Calibri"/>
            </a:endParaRPr>
          </a:p>
        </p:txBody>
      </p:sp>
      <p:sp>
        <p:nvSpPr>
          <p:cNvPr id="17" name="Text_5_17"/>
          <p:cNvSpPr txBox="1"/>
          <p:nvPr/>
        </p:nvSpPr>
        <p:spPr>
          <a:xfrm>
            <a:off x="558800" y="3403600"/>
            <a:ext cx="11074400" cy="317500"/>
          </a:xfrm>
          <a:prstGeom prst="rect">
            <a:avLst/>
          </a:prstGeom>
          <a:noFill/>
        </p:spPr>
        <p:txBody>
          <a:bodyPr vert="horz" wrap="square" lIns="0" tIns="0" rIns="0" bIns="0" rtlCol="0">
            <a:noAutofit/>
          </a:bodyPr>
          <a:lstStyle/>
          <a:p>
            <a:r>
              <a:rPr lang="en-US" sz="1700" b="1" smtClean="0">
                <a:solidFill>
                  <a:srgbClr val="083344"/>
                </a:solidFill>
                <a:latin typeface="Calibri"/>
              </a:rPr>
              <a:t>SOURCE  UNDP Human Development Report 2025</a:t>
            </a:r>
            <a:endParaRPr lang="en-US" sz="1700" b="1">
              <a:solidFill>
                <a:srgbClr val="083344"/>
              </a:solidFill>
              <a:latin typeface="Calibri"/>
            </a:endParaRPr>
          </a:p>
        </p:txBody>
      </p:sp>
      <p:sp>
        <p:nvSpPr>
          <p:cNvPr id="18" name="Text_5_18"/>
          <p:cNvSpPr txBox="1"/>
          <p:nvPr/>
        </p:nvSpPr>
        <p:spPr>
          <a:xfrm>
            <a:off x="558800" y="3937000"/>
            <a:ext cx="11074400" cy="254000"/>
          </a:xfrm>
          <a:prstGeom prst="rect">
            <a:avLst/>
          </a:prstGeom>
          <a:noFill/>
        </p:spPr>
        <p:txBody>
          <a:bodyPr vert="horz" wrap="square" lIns="0" tIns="0" rIns="0" bIns="0" rtlCol="0">
            <a:noAutofit/>
          </a:bodyPr>
          <a:lstStyle/>
          <a:p>
            <a:r>
              <a:rPr lang="en-US" sz="1200" b="1" smtClean="0">
                <a:solidFill>
                  <a:srgbClr val="0891B2"/>
                </a:solidFill>
                <a:latin typeface="Calibri"/>
              </a:rPr>
              <a:t>FOUR MODEL INPUTS</a:t>
            </a:r>
            <a:endParaRPr lang="en-US" sz="1200" b="1">
              <a:solidFill>
                <a:srgbClr val="0891B2"/>
              </a:solidFill>
              <a:latin typeface="Calibri"/>
            </a:endParaRPr>
          </a:p>
        </p:txBody>
      </p:sp>
      <p:sp>
        <p:nvSpPr>
          <p:cNvPr id="19" name="Text_5_19"/>
          <p:cNvSpPr txBox="1"/>
          <p:nvPr/>
        </p:nvSpPr>
        <p:spPr>
          <a:xfrm>
            <a:off x="558800" y="4330700"/>
            <a:ext cx="2667000" cy="342900"/>
          </a:xfrm>
          <a:prstGeom prst="rect">
            <a:avLst/>
          </a:prstGeom>
          <a:noFill/>
        </p:spPr>
        <p:txBody>
          <a:bodyPr vert="horz" wrap="square" lIns="0" tIns="0" rIns="0" bIns="0" rtlCol="0">
            <a:noAutofit/>
          </a:bodyPr>
          <a:lstStyle/>
          <a:p>
            <a:r>
              <a:rPr lang="en-US" sz="1900" b="1" smtClean="0">
                <a:solidFill>
                  <a:srgbClr val="083344"/>
                </a:solidFill>
                <a:latin typeface="Calibri"/>
              </a:rPr>
              <a:t>Life expectancy</a:t>
            </a:r>
            <a:endParaRPr lang="en-US" sz="1900" b="1">
              <a:solidFill>
                <a:srgbClr val="083344"/>
              </a:solidFill>
              <a:latin typeface="Calibri"/>
            </a:endParaRPr>
          </a:p>
        </p:txBody>
      </p:sp>
      <p:sp>
        <p:nvSpPr>
          <p:cNvPr id="20" name="Text_5_20"/>
          <p:cNvSpPr txBox="1"/>
          <p:nvPr/>
        </p:nvSpPr>
        <p:spPr>
          <a:xfrm>
            <a:off x="558800" y="4711700"/>
            <a:ext cx="2667000" cy="254000"/>
          </a:xfrm>
          <a:prstGeom prst="rect">
            <a:avLst/>
          </a:prstGeom>
          <a:noFill/>
        </p:spPr>
        <p:txBody>
          <a:bodyPr vert="horz" wrap="square" lIns="0" tIns="0" rIns="0" bIns="0" rtlCol="0">
            <a:noAutofit/>
          </a:bodyPr>
          <a:lstStyle/>
          <a:p>
            <a:r>
              <a:rPr lang="en-US" sz="1300" smtClean="0">
                <a:solidFill>
                  <a:srgbClr val="426773"/>
                </a:solidFill>
                <a:latin typeface="Calibri"/>
              </a:rPr>
              <a:t>Years</a:t>
            </a:r>
            <a:endParaRPr lang="en-US" sz="1300">
              <a:solidFill>
                <a:srgbClr val="426773"/>
              </a:solidFill>
              <a:latin typeface="Calibri"/>
            </a:endParaRPr>
          </a:p>
        </p:txBody>
      </p:sp>
      <p:sp>
        <p:nvSpPr>
          <p:cNvPr id="21" name="Text_5_21"/>
          <p:cNvSpPr txBox="1"/>
          <p:nvPr/>
        </p:nvSpPr>
        <p:spPr>
          <a:xfrm>
            <a:off x="3378200" y="4330700"/>
            <a:ext cx="2667000" cy="342900"/>
          </a:xfrm>
          <a:prstGeom prst="rect">
            <a:avLst/>
          </a:prstGeom>
          <a:noFill/>
        </p:spPr>
        <p:txBody>
          <a:bodyPr vert="horz" wrap="square" lIns="0" tIns="0" rIns="0" bIns="0" rtlCol="0">
            <a:noAutofit/>
          </a:bodyPr>
          <a:lstStyle/>
          <a:p>
            <a:r>
              <a:rPr lang="en-US" sz="1900" b="1" smtClean="0">
                <a:solidFill>
                  <a:srgbClr val="083344"/>
                </a:solidFill>
                <a:latin typeface="Calibri"/>
              </a:rPr>
              <a:t>Expected schooling</a:t>
            </a:r>
            <a:endParaRPr lang="en-US" sz="1900" b="1">
              <a:solidFill>
                <a:srgbClr val="083344"/>
              </a:solidFill>
              <a:latin typeface="Calibri"/>
            </a:endParaRPr>
          </a:p>
        </p:txBody>
      </p:sp>
      <p:sp>
        <p:nvSpPr>
          <p:cNvPr id="22" name="Text_5_22"/>
          <p:cNvSpPr txBox="1"/>
          <p:nvPr/>
        </p:nvSpPr>
        <p:spPr>
          <a:xfrm>
            <a:off x="3378200" y="4711700"/>
            <a:ext cx="2667000" cy="254000"/>
          </a:xfrm>
          <a:prstGeom prst="rect">
            <a:avLst/>
          </a:prstGeom>
          <a:noFill/>
        </p:spPr>
        <p:txBody>
          <a:bodyPr vert="horz" wrap="square" lIns="0" tIns="0" rIns="0" bIns="0" rtlCol="0">
            <a:noAutofit/>
          </a:bodyPr>
          <a:lstStyle/>
          <a:p>
            <a:r>
              <a:rPr lang="en-US" sz="1300" smtClean="0">
                <a:solidFill>
                  <a:srgbClr val="426773"/>
                </a:solidFill>
                <a:latin typeface="Calibri"/>
              </a:rPr>
              <a:t>Years</a:t>
            </a:r>
            <a:endParaRPr lang="en-US" sz="1300">
              <a:solidFill>
                <a:srgbClr val="426773"/>
              </a:solidFill>
              <a:latin typeface="Calibri"/>
            </a:endParaRPr>
          </a:p>
        </p:txBody>
      </p:sp>
      <p:sp>
        <p:nvSpPr>
          <p:cNvPr id="23" name="Text_5_23"/>
          <p:cNvSpPr txBox="1"/>
          <p:nvPr/>
        </p:nvSpPr>
        <p:spPr>
          <a:xfrm>
            <a:off x="6197600" y="4330700"/>
            <a:ext cx="2667000" cy="342900"/>
          </a:xfrm>
          <a:prstGeom prst="rect">
            <a:avLst/>
          </a:prstGeom>
          <a:noFill/>
        </p:spPr>
        <p:txBody>
          <a:bodyPr vert="horz" wrap="square" lIns="0" tIns="0" rIns="0" bIns="0" rtlCol="0">
            <a:noAutofit/>
          </a:bodyPr>
          <a:lstStyle/>
          <a:p>
            <a:r>
              <a:rPr lang="en-US" sz="1900" b="1" smtClean="0">
                <a:solidFill>
                  <a:srgbClr val="083344"/>
                </a:solidFill>
                <a:latin typeface="Calibri"/>
              </a:rPr>
              <a:t>Mean schooling</a:t>
            </a:r>
            <a:endParaRPr lang="en-US" sz="1900" b="1">
              <a:solidFill>
                <a:srgbClr val="083344"/>
              </a:solidFill>
              <a:latin typeface="Calibri"/>
            </a:endParaRPr>
          </a:p>
        </p:txBody>
      </p:sp>
      <p:sp>
        <p:nvSpPr>
          <p:cNvPr id="24" name="Text_5_24"/>
          <p:cNvSpPr txBox="1"/>
          <p:nvPr/>
        </p:nvSpPr>
        <p:spPr>
          <a:xfrm>
            <a:off x="6197600" y="4711700"/>
            <a:ext cx="2667000" cy="254000"/>
          </a:xfrm>
          <a:prstGeom prst="rect">
            <a:avLst/>
          </a:prstGeom>
          <a:noFill/>
        </p:spPr>
        <p:txBody>
          <a:bodyPr vert="horz" wrap="square" lIns="0" tIns="0" rIns="0" bIns="0" rtlCol="0">
            <a:noAutofit/>
          </a:bodyPr>
          <a:lstStyle/>
          <a:p>
            <a:r>
              <a:rPr lang="en-US" sz="1300" smtClean="0">
                <a:solidFill>
                  <a:srgbClr val="426773"/>
                </a:solidFill>
                <a:latin typeface="Calibri"/>
              </a:rPr>
              <a:t>Years</a:t>
            </a:r>
            <a:endParaRPr lang="en-US" sz="1300">
              <a:solidFill>
                <a:srgbClr val="426773"/>
              </a:solidFill>
              <a:latin typeface="Calibri"/>
            </a:endParaRPr>
          </a:p>
        </p:txBody>
      </p:sp>
      <p:sp>
        <p:nvSpPr>
          <p:cNvPr id="25" name="Text_5_25"/>
          <p:cNvSpPr txBox="1"/>
          <p:nvPr/>
        </p:nvSpPr>
        <p:spPr>
          <a:xfrm>
            <a:off x="9017000" y="4330700"/>
            <a:ext cx="2667000" cy="342900"/>
          </a:xfrm>
          <a:prstGeom prst="rect">
            <a:avLst/>
          </a:prstGeom>
          <a:noFill/>
        </p:spPr>
        <p:txBody>
          <a:bodyPr vert="horz" wrap="square" lIns="0" tIns="0" rIns="0" bIns="0" rtlCol="0">
            <a:noAutofit/>
          </a:bodyPr>
          <a:lstStyle/>
          <a:p>
            <a:r>
              <a:rPr lang="en-US" sz="1900" b="1" smtClean="0">
                <a:solidFill>
                  <a:srgbClr val="083344"/>
                </a:solidFill>
                <a:latin typeface="Calibri"/>
              </a:rPr>
              <a:t>GNI per capita</a:t>
            </a:r>
            <a:endParaRPr lang="en-US" sz="1900" b="1">
              <a:solidFill>
                <a:srgbClr val="083344"/>
              </a:solidFill>
              <a:latin typeface="Calibri"/>
            </a:endParaRPr>
          </a:p>
        </p:txBody>
      </p:sp>
      <p:sp>
        <p:nvSpPr>
          <p:cNvPr id="26" name="Text_5_26"/>
          <p:cNvSpPr txBox="1"/>
          <p:nvPr/>
        </p:nvSpPr>
        <p:spPr>
          <a:xfrm>
            <a:off x="9017000" y="4711700"/>
            <a:ext cx="2667000" cy="254000"/>
          </a:xfrm>
          <a:prstGeom prst="rect">
            <a:avLst/>
          </a:prstGeom>
          <a:noFill/>
        </p:spPr>
        <p:txBody>
          <a:bodyPr vert="horz" wrap="square" lIns="0" tIns="0" rIns="0" bIns="0" rtlCol="0">
            <a:noAutofit/>
          </a:bodyPr>
          <a:lstStyle/>
          <a:p>
            <a:r>
              <a:rPr lang="en-US" sz="1300" smtClean="0">
                <a:solidFill>
                  <a:srgbClr val="426773"/>
                </a:solidFill>
                <a:latin typeface="Calibri"/>
              </a:rPr>
              <a:t>Constant 2021 PPP dollars</a:t>
            </a:r>
            <a:endParaRPr lang="en-US" sz="1300">
              <a:solidFill>
                <a:srgbClr val="426773"/>
              </a:solidFill>
              <a:latin typeface="Calibri"/>
            </a:endParaRPr>
          </a:p>
        </p:txBody>
      </p:sp>
      <p:cxnSp>
        <p:nvCxnSpPr>
          <p:cNvPr id="27" name="Straight Arrow Connector 26"/>
          <p:cNvCxnSpPr/>
          <p:nvPr/>
        </p:nvCxnSpPr>
        <p:spPr>
          <a:xfrm>
            <a:off x="558800" y="52070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28" name="Text_5_28"/>
          <p:cNvSpPr txBox="1"/>
          <p:nvPr/>
        </p:nvSpPr>
        <p:spPr>
          <a:xfrm>
            <a:off x="558800" y="5448300"/>
            <a:ext cx="3556000" cy="317500"/>
          </a:xfrm>
          <a:prstGeom prst="rect">
            <a:avLst/>
          </a:prstGeom>
          <a:noFill/>
        </p:spPr>
        <p:txBody>
          <a:bodyPr vert="horz" wrap="square" lIns="0" tIns="0" rIns="0" bIns="0" rtlCol="0">
            <a:noAutofit/>
          </a:bodyPr>
          <a:lstStyle/>
          <a:p>
            <a:r>
              <a:rPr lang="en-US" b="1" smtClean="0">
                <a:solidFill>
                  <a:srgbClr val="0891B2"/>
                </a:solidFill>
                <a:latin typeface="Calibri"/>
              </a:rPr>
              <a:t>Complete cases</a:t>
            </a:r>
            <a:endParaRPr lang="en-US" b="1">
              <a:solidFill>
                <a:srgbClr val="0891B2"/>
              </a:solidFill>
              <a:latin typeface="Calibri"/>
            </a:endParaRPr>
          </a:p>
        </p:txBody>
      </p:sp>
      <p:sp>
        <p:nvSpPr>
          <p:cNvPr id="29" name="Text_5_29"/>
          <p:cNvSpPr txBox="1"/>
          <p:nvPr/>
        </p:nvSpPr>
        <p:spPr>
          <a:xfrm>
            <a:off x="558800" y="5854700"/>
            <a:ext cx="3556000" cy="457200"/>
          </a:xfrm>
          <a:prstGeom prst="rect">
            <a:avLst/>
          </a:prstGeom>
          <a:noFill/>
        </p:spPr>
        <p:txBody>
          <a:bodyPr vert="horz" wrap="square" lIns="0" tIns="0" rIns="0" bIns="0" rtlCol="0">
            <a:noAutofit/>
          </a:bodyPr>
          <a:lstStyle/>
          <a:p>
            <a:r>
              <a:rPr lang="en-US" sz="1350" smtClean="0">
                <a:solidFill>
                  <a:srgbClr val="426773"/>
                </a:solidFill>
                <a:latin typeface="Calibri"/>
              </a:rPr>
              <a:t>622 incomplete rows excluded</a:t>
            </a:r>
            <a:endParaRPr lang="en-US" sz="1350">
              <a:solidFill>
                <a:srgbClr val="426773"/>
              </a:solidFill>
              <a:latin typeface="Calibri"/>
            </a:endParaRPr>
          </a:p>
        </p:txBody>
      </p:sp>
      <p:sp>
        <p:nvSpPr>
          <p:cNvPr id="30" name="Text_5_30"/>
          <p:cNvSpPr txBox="1"/>
          <p:nvPr/>
        </p:nvSpPr>
        <p:spPr>
          <a:xfrm>
            <a:off x="4318000" y="5448300"/>
            <a:ext cx="3556000" cy="317500"/>
          </a:xfrm>
          <a:prstGeom prst="rect">
            <a:avLst/>
          </a:prstGeom>
          <a:noFill/>
        </p:spPr>
        <p:txBody>
          <a:bodyPr vert="horz" wrap="square" lIns="0" tIns="0" rIns="0" bIns="0" rtlCol="0">
            <a:noAutofit/>
          </a:bodyPr>
          <a:lstStyle/>
          <a:p>
            <a:r>
              <a:rPr lang="en-US" b="1" smtClean="0">
                <a:solidFill>
                  <a:srgbClr val="0891B2"/>
                </a:solidFill>
                <a:latin typeface="Calibri"/>
              </a:rPr>
              <a:t>Log income</a:t>
            </a:r>
            <a:endParaRPr lang="en-US" b="1">
              <a:solidFill>
                <a:srgbClr val="0891B2"/>
              </a:solidFill>
              <a:latin typeface="Calibri"/>
            </a:endParaRPr>
          </a:p>
        </p:txBody>
      </p:sp>
      <p:sp>
        <p:nvSpPr>
          <p:cNvPr id="31" name="Text_5_31"/>
          <p:cNvSpPr txBox="1"/>
          <p:nvPr/>
        </p:nvSpPr>
        <p:spPr>
          <a:xfrm>
            <a:off x="4318000" y="5854700"/>
            <a:ext cx="3556000" cy="457200"/>
          </a:xfrm>
          <a:prstGeom prst="rect">
            <a:avLst/>
          </a:prstGeom>
          <a:noFill/>
        </p:spPr>
        <p:txBody>
          <a:bodyPr vert="horz" wrap="square" lIns="0" tIns="0" rIns="0" bIns="0" rtlCol="0">
            <a:noAutofit/>
          </a:bodyPr>
          <a:lstStyle/>
          <a:p>
            <a:r>
              <a:rPr lang="en-US" sz="1350" smtClean="0">
                <a:solidFill>
                  <a:srgbClr val="426773"/>
                </a:solidFill>
                <a:latin typeface="Calibri"/>
              </a:rPr>
              <a:t>ln(GNI), other inputs unchanged</a:t>
            </a:r>
            <a:endParaRPr lang="en-US" sz="1350">
              <a:solidFill>
                <a:srgbClr val="426773"/>
              </a:solidFill>
              <a:latin typeface="Calibri"/>
            </a:endParaRPr>
          </a:p>
        </p:txBody>
      </p:sp>
      <p:sp>
        <p:nvSpPr>
          <p:cNvPr id="32" name="Text_5_32"/>
          <p:cNvSpPr txBox="1"/>
          <p:nvPr/>
        </p:nvSpPr>
        <p:spPr>
          <a:xfrm>
            <a:off x="8077200" y="5448300"/>
            <a:ext cx="3556000" cy="317500"/>
          </a:xfrm>
          <a:prstGeom prst="rect">
            <a:avLst/>
          </a:prstGeom>
          <a:noFill/>
        </p:spPr>
        <p:txBody>
          <a:bodyPr vert="horz" wrap="square" lIns="0" tIns="0" rIns="0" bIns="0" rtlCol="0">
            <a:noAutofit/>
          </a:bodyPr>
          <a:lstStyle/>
          <a:p>
            <a:r>
              <a:rPr lang="en-US" b="1" smtClean="0">
                <a:solidFill>
                  <a:srgbClr val="0891B2"/>
                </a:solidFill>
                <a:latin typeface="Calibri"/>
              </a:rPr>
              <a:t>Country-separated splits</a:t>
            </a:r>
            <a:endParaRPr lang="en-US" b="1">
              <a:solidFill>
                <a:srgbClr val="0891B2"/>
              </a:solidFill>
              <a:latin typeface="Calibri"/>
            </a:endParaRPr>
          </a:p>
        </p:txBody>
      </p:sp>
      <p:sp>
        <p:nvSpPr>
          <p:cNvPr id="33" name="Text_5_33"/>
          <p:cNvSpPr txBox="1"/>
          <p:nvPr/>
        </p:nvSpPr>
        <p:spPr>
          <a:xfrm>
            <a:off x="8077200" y="5854700"/>
            <a:ext cx="3556000" cy="457200"/>
          </a:xfrm>
          <a:prstGeom prst="rect">
            <a:avLst/>
          </a:prstGeom>
          <a:noFill/>
        </p:spPr>
        <p:txBody>
          <a:bodyPr vert="horz" wrap="square" lIns="0" tIns="0" rIns="0" bIns="0" rtlCol="0">
            <a:noAutofit/>
          </a:bodyPr>
          <a:lstStyle/>
          <a:p>
            <a:r>
              <a:rPr lang="en-US" sz="1350" smtClean="0">
                <a:solidFill>
                  <a:srgbClr val="426773"/>
                </a:solidFill>
                <a:latin typeface="Calibri"/>
              </a:rPr>
              <a:t>3,611 train / 1,178 validation / 1,151 test</a:t>
            </a:r>
            <a:endParaRPr lang="en-US" sz="135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6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METHODOLOGY / APPROACH</a:t>
            </a:r>
            <a:endParaRPr lang="en-US" sz="1200" b="1">
              <a:solidFill>
                <a:srgbClr val="0891B2"/>
              </a:solidFill>
              <a:latin typeface="Calibri"/>
            </a:endParaRPr>
          </a:p>
        </p:txBody>
      </p:sp>
      <p:sp>
        <p:nvSpPr>
          <p:cNvPr id="3" name="Text_6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HDI formulas and the ML estimate</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6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6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6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06</a:t>
            </a:r>
            <a:endParaRPr lang="en-US" sz="1100" b="1">
              <a:solidFill>
                <a:srgbClr val="0891B2"/>
              </a:solidFill>
              <a:latin typeface="Calibri"/>
            </a:endParaRPr>
          </a:p>
        </p:txBody>
      </p:sp>
      <p:sp>
        <p:nvSpPr>
          <p:cNvPr id="8" name="Text_6_8"/>
          <p:cNvSpPr txBox="1"/>
          <p:nvPr/>
        </p:nvSpPr>
        <p:spPr>
          <a:xfrm>
            <a:off x="558800" y="1816100"/>
            <a:ext cx="5842000" cy="279400"/>
          </a:xfrm>
          <a:prstGeom prst="rect">
            <a:avLst/>
          </a:prstGeom>
          <a:noFill/>
        </p:spPr>
        <p:txBody>
          <a:bodyPr vert="horz" wrap="square" lIns="0" tIns="0" rIns="0" bIns="0" rtlCol="0">
            <a:noAutofit/>
          </a:bodyPr>
          <a:lstStyle/>
          <a:p>
            <a:r>
              <a:rPr lang="en-US" sz="1200" b="1" smtClean="0">
                <a:solidFill>
                  <a:srgbClr val="0891B2"/>
                </a:solidFill>
                <a:latin typeface="Calibri"/>
              </a:rPr>
              <a:t>OFFICIAL DIMENSION INDICES</a:t>
            </a:r>
            <a:endParaRPr lang="en-US" sz="1200" b="1">
              <a:solidFill>
                <a:srgbClr val="0891B2"/>
              </a:solidFill>
              <a:latin typeface="Calibri"/>
            </a:endParaRPr>
          </a:p>
        </p:txBody>
      </p:sp>
      <p:sp>
        <p:nvSpPr>
          <p:cNvPr id="9" name="Text_6_9"/>
          <p:cNvSpPr txBox="1"/>
          <p:nvPr/>
        </p:nvSpPr>
        <p:spPr>
          <a:xfrm>
            <a:off x="558800" y="2298700"/>
            <a:ext cx="1905000" cy="279400"/>
          </a:xfrm>
          <a:prstGeom prst="rect">
            <a:avLst/>
          </a:prstGeom>
          <a:noFill/>
        </p:spPr>
        <p:txBody>
          <a:bodyPr vert="horz" wrap="square" lIns="0" tIns="0" rIns="0" bIns="0" rtlCol="0">
            <a:noAutofit/>
          </a:bodyPr>
          <a:lstStyle/>
          <a:p>
            <a:r>
              <a:rPr lang="en-US" sz="1700" b="1" smtClean="0">
                <a:solidFill>
                  <a:srgbClr val="083344"/>
                </a:solidFill>
                <a:latin typeface="Calibri"/>
              </a:rPr>
              <a:t>Health</a:t>
            </a:r>
            <a:endParaRPr lang="en-US" sz="1700" b="1">
              <a:solidFill>
                <a:srgbClr val="083344"/>
              </a:solidFill>
              <a:latin typeface="Calibri"/>
            </a:endParaRPr>
          </a:p>
        </p:txBody>
      </p:sp>
      <p:sp>
        <p:nvSpPr>
          <p:cNvPr id="10" name="Text_6_10"/>
          <p:cNvSpPr txBox="1"/>
          <p:nvPr/>
        </p:nvSpPr>
        <p:spPr>
          <a:xfrm>
            <a:off x="558800" y="2628900"/>
            <a:ext cx="5905500" cy="368300"/>
          </a:xfrm>
          <a:prstGeom prst="rect">
            <a:avLst/>
          </a:prstGeom>
          <a:noFill/>
        </p:spPr>
        <p:txBody>
          <a:bodyPr vert="horz" wrap="square" lIns="0" tIns="0" rIns="0" bIns="0" rtlCol="0">
            <a:noAutofit/>
          </a:bodyPr>
          <a:lstStyle/>
          <a:p>
            <a:r>
              <a:rPr lang="en-US" sz="2300" smtClean="0">
                <a:solidFill>
                  <a:srgbClr val="083344"/>
                </a:solidFill>
                <a:latin typeface="Cambria Math"/>
              </a:rPr>
              <a:t>Iₕ = (LE − 20) / 65</a:t>
            </a:r>
            <a:endParaRPr lang="en-US" sz="2300">
              <a:solidFill>
                <a:srgbClr val="083344"/>
              </a:solidFill>
              <a:latin typeface="Cambria Math"/>
            </a:endParaRPr>
          </a:p>
        </p:txBody>
      </p:sp>
      <p:sp>
        <p:nvSpPr>
          <p:cNvPr id="11" name="Text_6_11"/>
          <p:cNvSpPr txBox="1"/>
          <p:nvPr/>
        </p:nvSpPr>
        <p:spPr>
          <a:xfrm>
            <a:off x="558800" y="3022600"/>
            <a:ext cx="5905500" cy="241300"/>
          </a:xfrm>
          <a:prstGeom prst="rect">
            <a:avLst/>
          </a:prstGeom>
          <a:noFill/>
        </p:spPr>
        <p:txBody>
          <a:bodyPr vert="horz" wrap="square" lIns="0" tIns="0" rIns="0" bIns="0" rtlCol="0">
            <a:noAutofit/>
          </a:bodyPr>
          <a:lstStyle/>
          <a:p>
            <a:r>
              <a:rPr lang="en-US" sz="1250" smtClean="0">
                <a:solidFill>
                  <a:srgbClr val="426773"/>
                </a:solidFill>
                <a:latin typeface="Calibri"/>
              </a:rPr>
              <a:t>Life expectancy: 20–85 years</a:t>
            </a:r>
            <a:endParaRPr lang="en-US" sz="1250">
              <a:solidFill>
                <a:srgbClr val="426773"/>
              </a:solidFill>
              <a:latin typeface="Calibri"/>
            </a:endParaRPr>
          </a:p>
        </p:txBody>
      </p:sp>
      <p:sp>
        <p:nvSpPr>
          <p:cNvPr id="12" name="Text_6_12"/>
          <p:cNvSpPr txBox="1"/>
          <p:nvPr/>
        </p:nvSpPr>
        <p:spPr>
          <a:xfrm>
            <a:off x="558800" y="3365500"/>
            <a:ext cx="1905000" cy="279400"/>
          </a:xfrm>
          <a:prstGeom prst="rect">
            <a:avLst/>
          </a:prstGeom>
          <a:noFill/>
        </p:spPr>
        <p:txBody>
          <a:bodyPr vert="horz" wrap="square" lIns="0" tIns="0" rIns="0" bIns="0" rtlCol="0">
            <a:noAutofit/>
          </a:bodyPr>
          <a:lstStyle/>
          <a:p>
            <a:r>
              <a:rPr lang="en-US" sz="1700" b="1" smtClean="0">
                <a:solidFill>
                  <a:srgbClr val="083344"/>
                </a:solidFill>
                <a:latin typeface="Calibri"/>
              </a:rPr>
              <a:t>Education</a:t>
            </a:r>
            <a:endParaRPr lang="en-US" sz="1700" b="1">
              <a:solidFill>
                <a:srgbClr val="083344"/>
              </a:solidFill>
              <a:latin typeface="Calibri"/>
            </a:endParaRPr>
          </a:p>
        </p:txBody>
      </p:sp>
      <p:sp>
        <p:nvSpPr>
          <p:cNvPr id="13" name="Text_6_13"/>
          <p:cNvSpPr txBox="1"/>
          <p:nvPr/>
        </p:nvSpPr>
        <p:spPr>
          <a:xfrm>
            <a:off x="558800" y="3695700"/>
            <a:ext cx="5905500" cy="368300"/>
          </a:xfrm>
          <a:prstGeom prst="rect">
            <a:avLst/>
          </a:prstGeom>
          <a:noFill/>
        </p:spPr>
        <p:txBody>
          <a:bodyPr vert="horz" wrap="square" lIns="0" tIns="0" rIns="0" bIns="0" rtlCol="0">
            <a:noAutofit/>
          </a:bodyPr>
          <a:lstStyle/>
          <a:p>
            <a:r>
              <a:rPr lang="fi-FI" sz="2300" smtClean="0">
                <a:solidFill>
                  <a:srgbClr val="083344"/>
                </a:solidFill>
                <a:latin typeface="Cambria Math"/>
              </a:rPr>
              <a:t>Iₑ = ½ × (MYS / 15 + EYS / 18)</a:t>
            </a:r>
            <a:endParaRPr lang="en-US" sz="2300">
              <a:solidFill>
                <a:srgbClr val="083344"/>
              </a:solidFill>
              <a:latin typeface="Cambria Math"/>
            </a:endParaRPr>
          </a:p>
        </p:txBody>
      </p:sp>
      <p:sp>
        <p:nvSpPr>
          <p:cNvPr id="14" name="Text_6_14"/>
          <p:cNvSpPr txBox="1"/>
          <p:nvPr/>
        </p:nvSpPr>
        <p:spPr>
          <a:xfrm>
            <a:off x="558800" y="4089400"/>
            <a:ext cx="5905500" cy="241300"/>
          </a:xfrm>
          <a:prstGeom prst="rect">
            <a:avLst/>
          </a:prstGeom>
          <a:noFill/>
        </p:spPr>
        <p:txBody>
          <a:bodyPr vert="horz" wrap="square" lIns="0" tIns="0" rIns="0" bIns="0" rtlCol="0">
            <a:noAutofit/>
          </a:bodyPr>
          <a:lstStyle/>
          <a:p>
            <a:r>
              <a:rPr lang="en-US" sz="1250" smtClean="0">
                <a:solidFill>
                  <a:srgbClr val="426773"/>
                </a:solidFill>
                <a:latin typeface="Calibri"/>
              </a:rPr>
              <a:t>Mean schooling: 0–15   Expected: 0–18</a:t>
            </a:r>
            <a:endParaRPr lang="en-US" sz="1250">
              <a:solidFill>
                <a:srgbClr val="426773"/>
              </a:solidFill>
              <a:latin typeface="Calibri"/>
            </a:endParaRPr>
          </a:p>
        </p:txBody>
      </p:sp>
      <p:sp>
        <p:nvSpPr>
          <p:cNvPr id="15" name="Text_6_15"/>
          <p:cNvSpPr txBox="1"/>
          <p:nvPr/>
        </p:nvSpPr>
        <p:spPr>
          <a:xfrm>
            <a:off x="558800" y="4432300"/>
            <a:ext cx="1905000" cy="279400"/>
          </a:xfrm>
          <a:prstGeom prst="rect">
            <a:avLst/>
          </a:prstGeom>
          <a:noFill/>
        </p:spPr>
        <p:txBody>
          <a:bodyPr vert="horz" wrap="square" lIns="0" tIns="0" rIns="0" bIns="0" rtlCol="0">
            <a:noAutofit/>
          </a:bodyPr>
          <a:lstStyle/>
          <a:p>
            <a:r>
              <a:rPr lang="en-US" sz="1700" b="1" smtClean="0">
                <a:solidFill>
                  <a:srgbClr val="083344"/>
                </a:solidFill>
                <a:latin typeface="Calibri"/>
              </a:rPr>
              <a:t>Income</a:t>
            </a:r>
            <a:endParaRPr lang="en-US" sz="1700" b="1">
              <a:solidFill>
                <a:srgbClr val="083344"/>
              </a:solidFill>
              <a:latin typeface="Calibri"/>
            </a:endParaRPr>
          </a:p>
        </p:txBody>
      </p:sp>
      <p:sp>
        <p:nvSpPr>
          <p:cNvPr id="16" name="Text_6_16"/>
          <p:cNvSpPr txBox="1"/>
          <p:nvPr/>
        </p:nvSpPr>
        <p:spPr>
          <a:xfrm>
            <a:off x="558800" y="4762500"/>
            <a:ext cx="5905500" cy="368300"/>
          </a:xfrm>
          <a:prstGeom prst="rect">
            <a:avLst/>
          </a:prstGeom>
          <a:noFill/>
        </p:spPr>
        <p:txBody>
          <a:bodyPr vert="horz" wrap="square" lIns="0" tIns="0" rIns="0" bIns="0" rtlCol="0">
            <a:noAutofit/>
          </a:bodyPr>
          <a:lstStyle/>
          <a:p>
            <a:r>
              <a:rPr lang="it-IT" sz="2300" smtClean="0">
                <a:solidFill>
                  <a:srgbClr val="083344"/>
                </a:solidFill>
                <a:latin typeface="Cambria Math"/>
              </a:rPr>
              <a:t>Iᵢ = ln(GNI / 100) / ln(75000 / 100)</a:t>
            </a:r>
            <a:endParaRPr lang="en-US" sz="2300">
              <a:solidFill>
                <a:srgbClr val="083344"/>
              </a:solidFill>
              <a:latin typeface="Cambria Math"/>
            </a:endParaRPr>
          </a:p>
        </p:txBody>
      </p:sp>
      <p:sp>
        <p:nvSpPr>
          <p:cNvPr id="17" name="Text_6_17"/>
          <p:cNvSpPr txBox="1"/>
          <p:nvPr/>
        </p:nvSpPr>
        <p:spPr>
          <a:xfrm>
            <a:off x="558800" y="5156200"/>
            <a:ext cx="5905500" cy="241300"/>
          </a:xfrm>
          <a:prstGeom prst="rect">
            <a:avLst/>
          </a:prstGeom>
          <a:noFill/>
        </p:spPr>
        <p:txBody>
          <a:bodyPr vert="horz" wrap="square" lIns="0" tIns="0" rIns="0" bIns="0" rtlCol="0">
            <a:noAutofit/>
          </a:bodyPr>
          <a:lstStyle/>
          <a:p>
            <a:r>
              <a:rPr lang="it-IT" sz="1250" smtClean="0">
                <a:solidFill>
                  <a:srgbClr val="426773"/>
                </a:solidFill>
                <a:latin typeface="Calibri"/>
              </a:rPr>
              <a:t>GNI per capita: 100–75,000 (2021 PPP $)</a:t>
            </a:r>
            <a:endParaRPr lang="en-US" sz="1250">
              <a:solidFill>
                <a:srgbClr val="426773"/>
              </a:solidFill>
              <a:latin typeface="Calibri"/>
            </a:endParaRPr>
          </a:p>
        </p:txBody>
      </p:sp>
      <p:sp>
        <p:nvSpPr>
          <p:cNvPr id="18" name="Rounded Rectangle 17"/>
          <p:cNvSpPr/>
          <p:nvPr/>
        </p:nvSpPr>
        <p:spPr>
          <a:xfrm>
            <a:off x="6832600" y="1841500"/>
            <a:ext cx="4800600" cy="29083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_6_19"/>
          <p:cNvSpPr txBox="1"/>
          <p:nvPr/>
        </p:nvSpPr>
        <p:spPr>
          <a:xfrm>
            <a:off x="7086600" y="2095500"/>
            <a:ext cx="4292600" cy="266700"/>
          </a:xfrm>
          <a:prstGeom prst="rect">
            <a:avLst/>
          </a:prstGeom>
          <a:noFill/>
        </p:spPr>
        <p:txBody>
          <a:bodyPr vert="horz" wrap="square" lIns="0" tIns="0" rIns="0" bIns="0" rtlCol="0">
            <a:noAutofit/>
          </a:bodyPr>
          <a:lstStyle/>
          <a:p>
            <a:r>
              <a:rPr lang="en-US" sz="1200" b="1" smtClean="0">
                <a:solidFill>
                  <a:srgbClr val="0891B2"/>
                </a:solidFill>
                <a:latin typeface="Calibri"/>
              </a:rPr>
              <a:t>DIRECT HDI CALCULATION</a:t>
            </a:r>
            <a:endParaRPr lang="en-US" sz="1200" b="1">
              <a:solidFill>
                <a:srgbClr val="0891B2"/>
              </a:solidFill>
              <a:latin typeface="Calibri"/>
            </a:endParaRPr>
          </a:p>
        </p:txBody>
      </p:sp>
      <p:sp>
        <p:nvSpPr>
          <p:cNvPr id="20" name="Text_6_20"/>
          <p:cNvSpPr txBox="1"/>
          <p:nvPr/>
        </p:nvSpPr>
        <p:spPr>
          <a:xfrm>
            <a:off x="7086600" y="2552700"/>
            <a:ext cx="4292600" cy="406400"/>
          </a:xfrm>
          <a:prstGeom prst="rect">
            <a:avLst/>
          </a:prstGeom>
          <a:noFill/>
        </p:spPr>
        <p:txBody>
          <a:bodyPr vert="horz" wrap="square" lIns="0" tIns="0" rIns="0" bIns="0" rtlCol="0">
            <a:noAutofit/>
          </a:bodyPr>
          <a:lstStyle/>
          <a:p>
            <a:r>
              <a:rPr lang="en-US" sz="2500" b="1" smtClean="0">
                <a:solidFill>
                  <a:srgbClr val="083344"/>
                </a:solidFill>
                <a:latin typeface="Calibri"/>
              </a:rPr>
              <a:t>Geometric mean</a:t>
            </a:r>
            <a:endParaRPr lang="en-US" sz="2500" b="1">
              <a:solidFill>
                <a:srgbClr val="083344"/>
              </a:solidFill>
              <a:latin typeface="Calibri"/>
            </a:endParaRPr>
          </a:p>
        </p:txBody>
      </p:sp>
      <p:sp>
        <p:nvSpPr>
          <p:cNvPr id="21" name="Text_6_21"/>
          <p:cNvSpPr txBox="1"/>
          <p:nvPr/>
        </p:nvSpPr>
        <p:spPr>
          <a:xfrm>
            <a:off x="7086600" y="3187700"/>
            <a:ext cx="4292600" cy="558800"/>
          </a:xfrm>
          <a:prstGeom prst="rect">
            <a:avLst/>
          </a:prstGeom>
          <a:noFill/>
        </p:spPr>
        <p:txBody>
          <a:bodyPr vert="horz" wrap="square" lIns="0" tIns="0" rIns="0" bIns="0" rtlCol="0">
            <a:noAutofit/>
          </a:bodyPr>
          <a:lstStyle/>
          <a:p>
            <a:r>
              <a:rPr lang="en-US" sz="2800" smtClean="0">
                <a:solidFill>
                  <a:srgbClr val="083344"/>
                </a:solidFill>
                <a:latin typeface="Cambria Math"/>
              </a:rPr>
              <a:t>HDI = ∛(Iₕ × Iₑ × Iᵢ)</a:t>
            </a:r>
            <a:endParaRPr lang="en-US" sz="2800">
              <a:solidFill>
                <a:srgbClr val="083344"/>
              </a:solidFill>
              <a:latin typeface="Cambria Math"/>
            </a:endParaRPr>
          </a:p>
        </p:txBody>
      </p:sp>
      <p:sp>
        <p:nvSpPr>
          <p:cNvPr id="22" name="Text_6_22"/>
          <p:cNvSpPr txBox="1"/>
          <p:nvPr/>
        </p:nvSpPr>
        <p:spPr>
          <a:xfrm>
            <a:off x="7086600" y="3975100"/>
            <a:ext cx="4254500" cy="558800"/>
          </a:xfrm>
          <a:prstGeom prst="rect">
            <a:avLst/>
          </a:prstGeom>
          <a:noFill/>
        </p:spPr>
        <p:txBody>
          <a:bodyPr vert="horz" wrap="square" lIns="0" tIns="0" rIns="0" bIns="0" rtlCol="0">
            <a:noAutofit/>
          </a:bodyPr>
          <a:lstStyle/>
          <a:p>
            <a:r>
              <a:rPr lang="en-US" sz="1500" smtClean="0">
                <a:solidFill>
                  <a:srgbClr val="426773"/>
                </a:solidFill>
                <a:latin typeface="Calibri"/>
              </a:rPr>
              <a:t>Normalize the components to [0, 1].
The app caps indices at these bounds.</a:t>
            </a:r>
            <a:endParaRPr lang="en-US" sz="1500">
              <a:solidFill>
                <a:srgbClr val="426773"/>
              </a:solidFill>
              <a:latin typeface="Calibri"/>
            </a:endParaRPr>
          </a:p>
        </p:txBody>
      </p:sp>
      <p:sp>
        <p:nvSpPr>
          <p:cNvPr id="23" name="Text_6_23"/>
          <p:cNvSpPr txBox="1"/>
          <p:nvPr/>
        </p:nvSpPr>
        <p:spPr>
          <a:xfrm>
            <a:off x="558800" y="5765800"/>
            <a:ext cx="3594100" cy="292100"/>
          </a:xfrm>
          <a:prstGeom prst="rect">
            <a:avLst/>
          </a:prstGeom>
          <a:noFill/>
        </p:spPr>
        <p:txBody>
          <a:bodyPr vert="horz" wrap="square" lIns="0" tIns="0" rIns="0" bIns="0" rtlCol="0">
            <a:noAutofit/>
          </a:bodyPr>
          <a:lstStyle/>
          <a:p>
            <a:r>
              <a:rPr lang="en-US" sz="1200" b="1" smtClean="0">
                <a:solidFill>
                  <a:srgbClr val="0891B2"/>
                </a:solidFill>
                <a:latin typeface="Calibri"/>
              </a:rPr>
              <a:t>TRAINED LINEAR REGRESSION</a:t>
            </a:r>
            <a:endParaRPr lang="en-US" sz="1200" b="1">
              <a:solidFill>
                <a:srgbClr val="0891B2"/>
              </a:solidFill>
              <a:latin typeface="Calibri"/>
            </a:endParaRPr>
          </a:p>
        </p:txBody>
      </p:sp>
      <p:sp>
        <p:nvSpPr>
          <p:cNvPr id="24" name="Text_6_24"/>
          <p:cNvSpPr txBox="1"/>
          <p:nvPr/>
        </p:nvSpPr>
        <p:spPr>
          <a:xfrm>
            <a:off x="4178300" y="5676900"/>
            <a:ext cx="7454900" cy="469900"/>
          </a:xfrm>
          <a:prstGeom prst="rect">
            <a:avLst/>
          </a:prstGeom>
          <a:noFill/>
        </p:spPr>
        <p:txBody>
          <a:bodyPr vert="horz" wrap="square" lIns="0" tIns="0" rIns="0" bIns="0" rtlCol="0">
            <a:noAutofit/>
          </a:bodyPr>
          <a:lstStyle/>
          <a:p>
            <a:r>
              <a:rPr lang="cy-GB" sz="2300" smtClean="0">
                <a:solidFill>
                  <a:srgbClr val="083344"/>
                </a:solidFill>
                <a:latin typeface="Cambria Math"/>
              </a:rPr>
              <a:t>ŷ = </a:t>
            </a:r>
            <a:r>
              <a:rPr lang="el-GR" sz="2300" smtClean="0">
                <a:solidFill>
                  <a:srgbClr val="083344"/>
                </a:solidFill>
                <a:latin typeface="Cambria Math"/>
              </a:rPr>
              <a:t>β₀ + β₁</a:t>
            </a:r>
            <a:r>
              <a:rPr lang="cy-GB" sz="2300" smtClean="0">
                <a:solidFill>
                  <a:srgbClr val="083344"/>
                </a:solidFill>
                <a:latin typeface="Cambria Math"/>
              </a:rPr>
              <a:t>LE + </a:t>
            </a:r>
            <a:r>
              <a:rPr lang="el-GR" sz="2300" smtClean="0">
                <a:solidFill>
                  <a:srgbClr val="083344"/>
                </a:solidFill>
                <a:latin typeface="Cambria Math"/>
              </a:rPr>
              <a:t>β₂</a:t>
            </a:r>
            <a:r>
              <a:rPr lang="cy-GB" sz="2300" smtClean="0">
                <a:solidFill>
                  <a:srgbClr val="083344"/>
                </a:solidFill>
                <a:latin typeface="Cambria Math"/>
              </a:rPr>
              <a:t>EYS + </a:t>
            </a:r>
            <a:r>
              <a:rPr lang="el-GR" sz="2300" smtClean="0">
                <a:solidFill>
                  <a:srgbClr val="083344"/>
                </a:solidFill>
                <a:latin typeface="Cambria Math"/>
              </a:rPr>
              <a:t>β₃</a:t>
            </a:r>
            <a:r>
              <a:rPr lang="cy-GB" sz="2300" smtClean="0">
                <a:solidFill>
                  <a:srgbClr val="083344"/>
                </a:solidFill>
                <a:latin typeface="Cambria Math"/>
              </a:rPr>
              <a:t>MYS + </a:t>
            </a:r>
            <a:r>
              <a:rPr lang="el-GR" sz="2300" smtClean="0">
                <a:solidFill>
                  <a:srgbClr val="083344"/>
                </a:solidFill>
                <a:latin typeface="Cambria Math"/>
              </a:rPr>
              <a:t>β₄</a:t>
            </a:r>
            <a:r>
              <a:rPr lang="cy-GB" sz="2300" smtClean="0">
                <a:solidFill>
                  <a:srgbClr val="083344"/>
                </a:solidFill>
                <a:latin typeface="Cambria Math"/>
              </a:rPr>
              <a:t>ln(GNI)</a:t>
            </a:r>
            <a:endParaRPr lang="en-US" sz="2300">
              <a:solidFill>
                <a:srgbClr val="083344"/>
              </a:solidFill>
              <a:latin typeface="Cambria Math"/>
            </a:endParaRPr>
          </a:p>
        </p:txBody>
      </p:sp>
      <p:sp>
        <p:nvSpPr>
          <p:cNvPr id="25" name="Text_6_25"/>
          <p:cNvSpPr txBox="1"/>
          <p:nvPr/>
        </p:nvSpPr>
        <p:spPr>
          <a:xfrm>
            <a:off x="558800" y="6197600"/>
            <a:ext cx="11074400" cy="228600"/>
          </a:xfrm>
          <a:prstGeom prst="rect">
            <a:avLst/>
          </a:prstGeom>
          <a:noFill/>
        </p:spPr>
        <p:txBody>
          <a:bodyPr vert="horz" wrap="square" lIns="0" tIns="0" rIns="0" bIns="0" rtlCol="0">
            <a:noAutofit/>
          </a:bodyPr>
          <a:lstStyle/>
          <a:p>
            <a:r>
              <a:rPr lang="en-US" sz="1150" smtClean="0">
                <a:solidFill>
                  <a:srgbClr val="426773"/>
                </a:solidFill>
                <a:latin typeface="Calibri"/>
              </a:rPr>
              <a:t>LE: life expectancy   EYS: expected schooling   MYS: mean schooling   GNI: income per person</a:t>
            </a:r>
            <a:endParaRPr lang="en-US" sz="115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7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METHODOLOGY / APPROACH</a:t>
            </a:r>
            <a:endParaRPr lang="en-US" sz="1200" b="1">
              <a:solidFill>
                <a:srgbClr val="0891B2"/>
              </a:solidFill>
              <a:latin typeface="Calibri"/>
            </a:endParaRPr>
          </a:p>
        </p:txBody>
      </p:sp>
      <p:sp>
        <p:nvSpPr>
          <p:cNvPr id="3" name="Text_7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Model selection and recorded results</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7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7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7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07</a:t>
            </a:r>
            <a:endParaRPr lang="en-US" sz="1100" b="1">
              <a:solidFill>
                <a:srgbClr val="0891B2"/>
              </a:solidFill>
              <a:latin typeface="Calibri"/>
            </a:endParaRPr>
          </a:p>
        </p:txBody>
      </p:sp>
      <p:sp>
        <p:nvSpPr>
          <p:cNvPr id="8" name="Rounded Rectangle 7"/>
          <p:cNvSpPr/>
          <p:nvPr/>
        </p:nvSpPr>
        <p:spPr>
          <a:xfrm>
            <a:off x="558800" y="1752600"/>
            <a:ext cx="3556000" cy="13335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_7_9"/>
          <p:cNvSpPr txBox="1"/>
          <p:nvPr/>
        </p:nvSpPr>
        <p:spPr>
          <a:xfrm>
            <a:off x="774700" y="1917700"/>
            <a:ext cx="3175000" cy="508000"/>
          </a:xfrm>
          <a:prstGeom prst="rect">
            <a:avLst/>
          </a:prstGeom>
          <a:noFill/>
        </p:spPr>
        <p:txBody>
          <a:bodyPr vert="horz" wrap="square" lIns="0" tIns="0" rIns="0" bIns="0" rtlCol="0">
            <a:noAutofit/>
          </a:bodyPr>
          <a:lstStyle/>
          <a:p>
            <a:r>
              <a:rPr lang="en-US" sz="3400" b="1" smtClean="0">
                <a:solidFill>
                  <a:srgbClr val="0891B2"/>
                </a:solidFill>
                <a:latin typeface="Calibri"/>
              </a:rPr>
              <a:t>0.004404</a:t>
            </a:r>
            <a:endParaRPr lang="en-US" sz="3400" b="1">
              <a:solidFill>
                <a:srgbClr val="0891B2"/>
              </a:solidFill>
              <a:latin typeface="Calibri"/>
            </a:endParaRPr>
          </a:p>
        </p:txBody>
      </p:sp>
      <p:sp>
        <p:nvSpPr>
          <p:cNvPr id="10" name="Text_7_10"/>
          <p:cNvSpPr txBox="1"/>
          <p:nvPr/>
        </p:nvSpPr>
        <p:spPr>
          <a:xfrm>
            <a:off x="774700" y="2489200"/>
            <a:ext cx="952500" cy="292100"/>
          </a:xfrm>
          <a:prstGeom prst="rect">
            <a:avLst/>
          </a:prstGeom>
          <a:noFill/>
        </p:spPr>
        <p:txBody>
          <a:bodyPr vert="horz" wrap="square" lIns="0" tIns="0" rIns="0" bIns="0" rtlCol="0">
            <a:noAutofit/>
          </a:bodyPr>
          <a:lstStyle/>
          <a:p>
            <a:r>
              <a:rPr lang="en-US" sz="1700" b="1" smtClean="0">
                <a:solidFill>
                  <a:srgbClr val="083344"/>
                </a:solidFill>
                <a:latin typeface="Calibri"/>
              </a:rPr>
              <a:t>MAE</a:t>
            </a:r>
            <a:endParaRPr lang="en-US" sz="1700" b="1">
              <a:solidFill>
                <a:srgbClr val="083344"/>
              </a:solidFill>
              <a:latin typeface="Calibri"/>
            </a:endParaRPr>
          </a:p>
        </p:txBody>
      </p:sp>
      <p:sp>
        <p:nvSpPr>
          <p:cNvPr id="11" name="Text_7_11"/>
          <p:cNvSpPr txBox="1"/>
          <p:nvPr/>
        </p:nvSpPr>
        <p:spPr>
          <a:xfrm>
            <a:off x="774700" y="2819400"/>
            <a:ext cx="3187700" cy="228600"/>
          </a:xfrm>
          <a:prstGeom prst="rect">
            <a:avLst/>
          </a:prstGeom>
          <a:noFill/>
        </p:spPr>
        <p:txBody>
          <a:bodyPr vert="horz" wrap="square" lIns="0" tIns="0" rIns="0" bIns="0" rtlCol="0">
            <a:noAutofit/>
          </a:bodyPr>
          <a:lstStyle/>
          <a:p>
            <a:r>
              <a:rPr lang="en-US" sz="1250" smtClean="0">
                <a:solidFill>
                  <a:srgbClr val="426773"/>
                </a:solidFill>
                <a:latin typeface="Calibri"/>
              </a:rPr>
              <a:t>Average absolute error</a:t>
            </a:r>
            <a:endParaRPr lang="en-US" sz="1250">
              <a:solidFill>
                <a:srgbClr val="426773"/>
              </a:solidFill>
              <a:latin typeface="Calibri"/>
            </a:endParaRPr>
          </a:p>
        </p:txBody>
      </p:sp>
      <p:sp>
        <p:nvSpPr>
          <p:cNvPr id="12" name="Rounded Rectangle 11"/>
          <p:cNvSpPr/>
          <p:nvPr/>
        </p:nvSpPr>
        <p:spPr>
          <a:xfrm>
            <a:off x="4318000" y="1752600"/>
            <a:ext cx="3556000" cy="13335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_7_13"/>
          <p:cNvSpPr txBox="1"/>
          <p:nvPr/>
        </p:nvSpPr>
        <p:spPr>
          <a:xfrm>
            <a:off x="4533900" y="1917700"/>
            <a:ext cx="3175000" cy="508000"/>
          </a:xfrm>
          <a:prstGeom prst="rect">
            <a:avLst/>
          </a:prstGeom>
          <a:noFill/>
        </p:spPr>
        <p:txBody>
          <a:bodyPr vert="horz" wrap="square" lIns="0" tIns="0" rIns="0" bIns="0" rtlCol="0">
            <a:noAutofit/>
          </a:bodyPr>
          <a:lstStyle/>
          <a:p>
            <a:r>
              <a:rPr lang="en-US" sz="3400" b="1" smtClean="0">
                <a:solidFill>
                  <a:srgbClr val="0891B2"/>
                </a:solidFill>
                <a:latin typeface="Calibri"/>
              </a:rPr>
              <a:t>0.006670</a:t>
            </a:r>
            <a:endParaRPr lang="en-US" sz="3400" b="1">
              <a:solidFill>
                <a:srgbClr val="0891B2"/>
              </a:solidFill>
              <a:latin typeface="Calibri"/>
            </a:endParaRPr>
          </a:p>
        </p:txBody>
      </p:sp>
      <p:sp>
        <p:nvSpPr>
          <p:cNvPr id="14" name="Text_7_14"/>
          <p:cNvSpPr txBox="1"/>
          <p:nvPr/>
        </p:nvSpPr>
        <p:spPr>
          <a:xfrm>
            <a:off x="4533900" y="2489200"/>
            <a:ext cx="952500" cy="292100"/>
          </a:xfrm>
          <a:prstGeom prst="rect">
            <a:avLst/>
          </a:prstGeom>
          <a:noFill/>
        </p:spPr>
        <p:txBody>
          <a:bodyPr vert="horz" wrap="square" lIns="0" tIns="0" rIns="0" bIns="0" rtlCol="0">
            <a:noAutofit/>
          </a:bodyPr>
          <a:lstStyle/>
          <a:p>
            <a:r>
              <a:rPr lang="en-US" sz="1700" b="1" smtClean="0">
                <a:solidFill>
                  <a:srgbClr val="083344"/>
                </a:solidFill>
                <a:latin typeface="Calibri"/>
              </a:rPr>
              <a:t>RMSE</a:t>
            </a:r>
            <a:endParaRPr lang="en-US" sz="1700" b="1">
              <a:solidFill>
                <a:srgbClr val="083344"/>
              </a:solidFill>
              <a:latin typeface="Calibri"/>
            </a:endParaRPr>
          </a:p>
        </p:txBody>
      </p:sp>
      <p:sp>
        <p:nvSpPr>
          <p:cNvPr id="15" name="Text_7_15"/>
          <p:cNvSpPr txBox="1"/>
          <p:nvPr/>
        </p:nvSpPr>
        <p:spPr>
          <a:xfrm>
            <a:off x="4533900" y="2819400"/>
            <a:ext cx="3187700" cy="228600"/>
          </a:xfrm>
          <a:prstGeom prst="rect">
            <a:avLst/>
          </a:prstGeom>
          <a:noFill/>
        </p:spPr>
        <p:txBody>
          <a:bodyPr vert="horz" wrap="square" lIns="0" tIns="0" rIns="0" bIns="0" rtlCol="0">
            <a:noAutofit/>
          </a:bodyPr>
          <a:lstStyle/>
          <a:p>
            <a:r>
              <a:rPr lang="en-US" sz="1250" smtClean="0">
                <a:solidFill>
                  <a:srgbClr val="426773"/>
                </a:solidFill>
                <a:latin typeface="Calibri"/>
              </a:rPr>
              <a:t>Emphasizes larger errors</a:t>
            </a:r>
            <a:endParaRPr lang="en-US" sz="1250">
              <a:solidFill>
                <a:srgbClr val="426773"/>
              </a:solidFill>
              <a:latin typeface="Calibri"/>
            </a:endParaRPr>
          </a:p>
        </p:txBody>
      </p:sp>
      <p:sp>
        <p:nvSpPr>
          <p:cNvPr id="16" name="Rounded Rectangle 15"/>
          <p:cNvSpPr/>
          <p:nvPr/>
        </p:nvSpPr>
        <p:spPr>
          <a:xfrm>
            <a:off x="8077200" y="1752600"/>
            <a:ext cx="3556000" cy="13335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_7_17"/>
          <p:cNvSpPr txBox="1"/>
          <p:nvPr/>
        </p:nvSpPr>
        <p:spPr>
          <a:xfrm>
            <a:off x="8293100" y="1917700"/>
            <a:ext cx="3175000" cy="508000"/>
          </a:xfrm>
          <a:prstGeom prst="rect">
            <a:avLst/>
          </a:prstGeom>
          <a:noFill/>
        </p:spPr>
        <p:txBody>
          <a:bodyPr vert="horz" wrap="square" lIns="0" tIns="0" rIns="0" bIns="0" rtlCol="0">
            <a:noAutofit/>
          </a:bodyPr>
          <a:lstStyle/>
          <a:p>
            <a:r>
              <a:rPr lang="en-US" sz="3400" b="1" smtClean="0">
                <a:solidFill>
                  <a:srgbClr val="0891B2"/>
                </a:solidFill>
                <a:latin typeface="Calibri"/>
              </a:rPr>
              <a:t>0.998183</a:t>
            </a:r>
            <a:endParaRPr lang="en-US" sz="3400" b="1">
              <a:solidFill>
                <a:srgbClr val="0891B2"/>
              </a:solidFill>
              <a:latin typeface="Calibri"/>
            </a:endParaRPr>
          </a:p>
        </p:txBody>
      </p:sp>
      <p:sp>
        <p:nvSpPr>
          <p:cNvPr id="18" name="Text_7_18"/>
          <p:cNvSpPr txBox="1"/>
          <p:nvPr/>
        </p:nvSpPr>
        <p:spPr>
          <a:xfrm>
            <a:off x="8293100" y="2489200"/>
            <a:ext cx="952500" cy="292100"/>
          </a:xfrm>
          <a:prstGeom prst="rect">
            <a:avLst/>
          </a:prstGeom>
          <a:noFill/>
        </p:spPr>
        <p:txBody>
          <a:bodyPr vert="horz" wrap="square" lIns="0" tIns="0" rIns="0" bIns="0" rtlCol="0">
            <a:noAutofit/>
          </a:bodyPr>
          <a:lstStyle/>
          <a:p>
            <a:r>
              <a:rPr lang="en-US" sz="1700" b="1" smtClean="0">
                <a:solidFill>
                  <a:srgbClr val="083344"/>
                </a:solidFill>
                <a:latin typeface="Calibri"/>
              </a:rPr>
              <a:t>R²</a:t>
            </a:r>
            <a:endParaRPr lang="en-US" sz="1700" b="1">
              <a:solidFill>
                <a:srgbClr val="083344"/>
              </a:solidFill>
              <a:latin typeface="Calibri"/>
            </a:endParaRPr>
          </a:p>
        </p:txBody>
      </p:sp>
      <p:sp>
        <p:nvSpPr>
          <p:cNvPr id="19" name="Text_7_19"/>
          <p:cNvSpPr txBox="1"/>
          <p:nvPr/>
        </p:nvSpPr>
        <p:spPr>
          <a:xfrm>
            <a:off x="8293100" y="2819400"/>
            <a:ext cx="3187700" cy="228600"/>
          </a:xfrm>
          <a:prstGeom prst="rect">
            <a:avLst/>
          </a:prstGeom>
          <a:noFill/>
        </p:spPr>
        <p:txBody>
          <a:bodyPr vert="horz" wrap="square" lIns="0" tIns="0" rIns="0" bIns="0" rtlCol="0">
            <a:noAutofit/>
          </a:bodyPr>
          <a:lstStyle/>
          <a:p>
            <a:r>
              <a:rPr lang="en-US" sz="1250" smtClean="0">
                <a:solidFill>
                  <a:srgbClr val="426773"/>
                </a:solidFill>
                <a:latin typeface="Calibri"/>
              </a:rPr>
              <a:t>Goodness of fit</a:t>
            </a:r>
            <a:endParaRPr lang="en-US" sz="1250">
              <a:solidFill>
                <a:srgbClr val="426773"/>
              </a:solidFill>
              <a:latin typeface="Calibri"/>
            </a:endParaRPr>
          </a:p>
        </p:txBody>
      </p:sp>
      <p:sp>
        <p:nvSpPr>
          <p:cNvPr id="20" name="Text_7_20"/>
          <p:cNvSpPr txBox="1"/>
          <p:nvPr/>
        </p:nvSpPr>
        <p:spPr>
          <a:xfrm>
            <a:off x="558800" y="3352800"/>
            <a:ext cx="7112000" cy="304800"/>
          </a:xfrm>
          <a:prstGeom prst="rect">
            <a:avLst/>
          </a:prstGeom>
          <a:noFill/>
        </p:spPr>
        <p:txBody>
          <a:bodyPr vert="horz" wrap="square" lIns="0" tIns="0" rIns="0" bIns="0" rtlCol="0">
            <a:noAutofit/>
          </a:bodyPr>
          <a:lstStyle/>
          <a:p>
            <a:r>
              <a:rPr lang="en-US" sz="1200" b="1" smtClean="0">
                <a:solidFill>
                  <a:srgbClr val="0891B2"/>
                </a:solidFill>
                <a:latin typeface="Calibri"/>
              </a:rPr>
              <a:t>VALIDATION MAE  /  LOWER IS BETTER</a:t>
            </a:r>
            <a:endParaRPr lang="en-US" sz="1200" b="1">
              <a:solidFill>
                <a:srgbClr val="0891B2"/>
              </a:solidFill>
              <a:latin typeface="Calibri"/>
            </a:endParaRPr>
          </a:p>
        </p:txBody>
      </p:sp>
      <p:sp>
        <p:nvSpPr>
          <p:cNvPr id="21" name="Text_7_21"/>
          <p:cNvSpPr txBox="1"/>
          <p:nvPr/>
        </p:nvSpPr>
        <p:spPr>
          <a:xfrm>
            <a:off x="8102600" y="3479800"/>
            <a:ext cx="3530600" cy="368300"/>
          </a:xfrm>
          <a:prstGeom prst="rect">
            <a:avLst/>
          </a:prstGeom>
          <a:noFill/>
        </p:spPr>
        <p:txBody>
          <a:bodyPr vert="horz" wrap="square" lIns="0" tIns="0" rIns="0" bIns="0" rtlCol="0">
            <a:noAutofit/>
          </a:bodyPr>
          <a:lstStyle/>
          <a:p>
            <a:r>
              <a:rPr lang="en-US" sz="2200" b="1" smtClean="0">
                <a:solidFill>
                  <a:srgbClr val="083344"/>
                </a:solidFill>
                <a:latin typeface="Calibri"/>
              </a:rPr>
              <a:t>Why Linear Regression?</a:t>
            </a:r>
            <a:endParaRPr lang="en-US" sz="2200" b="1">
              <a:solidFill>
                <a:srgbClr val="083344"/>
              </a:solidFill>
              <a:latin typeface="Calibri"/>
            </a:endParaRPr>
          </a:p>
        </p:txBody>
      </p:sp>
      <p:sp>
        <p:nvSpPr>
          <p:cNvPr id="22" name="Text_7_22"/>
          <p:cNvSpPr txBox="1"/>
          <p:nvPr/>
        </p:nvSpPr>
        <p:spPr>
          <a:xfrm>
            <a:off x="8102600" y="4000500"/>
            <a:ext cx="3530600" cy="774700"/>
          </a:xfrm>
          <a:prstGeom prst="rect">
            <a:avLst/>
          </a:prstGeom>
          <a:noFill/>
        </p:spPr>
        <p:txBody>
          <a:bodyPr vert="horz" wrap="square" lIns="0" tIns="0" rIns="0" bIns="0" rtlCol="0">
            <a:noAutofit/>
          </a:bodyPr>
          <a:lstStyle/>
          <a:p>
            <a:r>
              <a:rPr lang="en-US" sz="2100" b="1" smtClean="0">
                <a:solidFill>
                  <a:srgbClr val="0891B2"/>
                </a:solidFill>
                <a:latin typeface="Calibri"/>
              </a:rPr>
              <a:t>Lowest validation MAE
0.004148</a:t>
            </a:r>
            <a:endParaRPr lang="en-US" sz="2100" b="1">
              <a:solidFill>
                <a:srgbClr val="0891B2"/>
              </a:solidFill>
              <a:latin typeface="Calibri"/>
            </a:endParaRPr>
          </a:p>
        </p:txBody>
      </p:sp>
      <p:sp>
        <p:nvSpPr>
          <p:cNvPr id="23" name="Text_7_23"/>
          <p:cNvSpPr txBox="1"/>
          <p:nvPr/>
        </p:nvSpPr>
        <p:spPr>
          <a:xfrm>
            <a:off x="8102600" y="4927600"/>
            <a:ext cx="3530600" cy="622300"/>
          </a:xfrm>
          <a:prstGeom prst="rect">
            <a:avLst/>
          </a:prstGeom>
          <a:noFill/>
        </p:spPr>
        <p:txBody>
          <a:bodyPr vert="horz" wrap="square" lIns="0" tIns="0" rIns="0" bIns="0" rtlCol="0">
            <a:noAutofit/>
          </a:bodyPr>
          <a:lstStyle/>
          <a:p>
            <a:r>
              <a:rPr lang="en-US" sz="1600" smtClean="0">
                <a:solidFill>
                  <a:srgbClr val="426773"/>
                </a:solidFill>
                <a:latin typeface="Calibri"/>
              </a:rPr>
              <a:t>Narrowly ahead of Extra Trees
0.004209</a:t>
            </a:r>
            <a:endParaRPr lang="en-US" sz="1600">
              <a:solidFill>
                <a:srgbClr val="426773"/>
              </a:solidFill>
              <a:latin typeface="Calibri"/>
            </a:endParaRPr>
          </a:p>
        </p:txBody>
      </p:sp>
      <p:sp>
        <p:nvSpPr>
          <p:cNvPr id="24" name="Text_7_24"/>
          <p:cNvSpPr txBox="1"/>
          <p:nvPr/>
        </p:nvSpPr>
        <p:spPr>
          <a:xfrm>
            <a:off x="8102600" y="5778500"/>
            <a:ext cx="3530600" cy="381000"/>
          </a:xfrm>
          <a:prstGeom prst="rect">
            <a:avLst/>
          </a:prstGeom>
          <a:noFill/>
        </p:spPr>
        <p:txBody>
          <a:bodyPr vert="horz" wrap="square" lIns="0" tIns="0" rIns="0" bIns="0" rtlCol="0">
            <a:noAutofit/>
          </a:bodyPr>
          <a:lstStyle/>
          <a:p>
            <a:r>
              <a:rPr lang="en-US" sz="1500" b="1" smtClean="0">
                <a:solidFill>
                  <a:srgbClr val="083344"/>
                </a:solidFill>
                <a:latin typeface="Calibri"/>
              </a:rPr>
              <a:t>R² is not percentage accuracy.</a:t>
            </a:r>
            <a:endParaRPr lang="en-US" sz="1500" b="1">
              <a:solidFill>
                <a:srgbClr val="083344"/>
              </a:solidFill>
              <a:latin typeface="Calibri"/>
            </a:endParaRPr>
          </a:p>
        </p:txBody>
      </p:sp>
      <p:sp>
        <p:nvSpPr>
          <p:cNvPr id="25" name="Text_7_25"/>
          <p:cNvSpPr txBox="1"/>
          <p:nvPr/>
        </p:nvSpPr>
        <p:spPr>
          <a:xfrm>
            <a:off x="558800" y="6261100"/>
            <a:ext cx="11074400" cy="228600"/>
          </a:xfrm>
          <a:prstGeom prst="rect">
            <a:avLst/>
          </a:prstGeom>
          <a:noFill/>
        </p:spPr>
        <p:txBody>
          <a:bodyPr vert="horz" wrap="square" lIns="0" tIns="0" rIns="0" bIns="0" rtlCol="0">
            <a:noAutofit/>
          </a:bodyPr>
          <a:lstStyle/>
          <a:p>
            <a:r>
              <a:rPr lang="en-US" sz="1200" smtClean="0">
                <a:solidFill>
                  <a:srgbClr val="426773"/>
                </a:solidFill>
                <a:latin typeface="Calibri"/>
              </a:rPr>
              <a:t>Held-out countries. Same-year reconstruction. The official formula remains the direct method.</a:t>
            </a:r>
            <a:endParaRPr lang="en-US" sz="1200">
              <a:solidFill>
                <a:srgbClr val="426773"/>
              </a:solidFill>
              <a:latin typeface="Calibri"/>
            </a:endParaRPr>
          </a:p>
        </p:txBody>
      </p:sp>
      <p:graphicFrame>
        <p:nvGraphicFramePr>
          <p:cNvPr id="900" name="Editable validation MAE chart"/>
          <p:cNvGraphicFramePr/>
          <p:nvPr/>
        </p:nvGraphicFramePr>
        <p:xfrm>
          <a:off x="558800" y="3746500"/>
          <a:ext cx="7073900" cy="24003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8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TOOLS &amp; TECHNOLOGIES</a:t>
            </a:r>
            <a:endParaRPr lang="en-US" sz="1200" b="1">
              <a:solidFill>
                <a:srgbClr val="0891B2"/>
              </a:solidFill>
              <a:latin typeface="Calibri"/>
            </a:endParaRPr>
          </a:p>
        </p:txBody>
      </p:sp>
      <p:sp>
        <p:nvSpPr>
          <p:cNvPr id="3" name="Text_8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Tools and technologies</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8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8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8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08</a:t>
            </a:r>
            <a:endParaRPr lang="en-US" sz="1100" b="1">
              <a:solidFill>
                <a:srgbClr val="0891B2"/>
              </a:solidFill>
              <a:latin typeface="Calibri"/>
            </a:endParaRPr>
          </a:p>
        </p:txBody>
      </p:sp>
      <p:sp>
        <p:nvSpPr>
          <p:cNvPr id="8" name="Text_8_8"/>
          <p:cNvSpPr txBox="1"/>
          <p:nvPr/>
        </p:nvSpPr>
        <p:spPr>
          <a:xfrm>
            <a:off x="558800" y="1739900"/>
            <a:ext cx="8128000" cy="304800"/>
          </a:xfrm>
          <a:prstGeom prst="rect">
            <a:avLst/>
          </a:prstGeom>
          <a:noFill/>
        </p:spPr>
        <p:txBody>
          <a:bodyPr vert="horz" wrap="square" lIns="0" tIns="0" rIns="0" bIns="0" rtlCol="0">
            <a:noAutofit/>
          </a:bodyPr>
          <a:lstStyle/>
          <a:p>
            <a:r>
              <a:rPr lang="en-US" sz="1200" b="1" smtClean="0">
                <a:solidFill>
                  <a:srgbClr val="0891B2"/>
                </a:solidFill>
                <a:latin typeface="Calibri"/>
              </a:rPr>
              <a:t>IMPLEMENTED LOCALLY</a:t>
            </a:r>
            <a:endParaRPr lang="en-US" sz="1200" b="1">
              <a:solidFill>
                <a:srgbClr val="0891B2"/>
              </a:solidFill>
              <a:latin typeface="Calibri"/>
            </a:endParaRPr>
          </a:p>
        </p:txBody>
      </p:sp>
      <p:sp>
        <p:nvSpPr>
          <p:cNvPr id="9" name="Text_8_9"/>
          <p:cNvSpPr txBox="1"/>
          <p:nvPr/>
        </p:nvSpPr>
        <p:spPr>
          <a:xfrm>
            <a:off x="8674100" y="1739900"/>
            <a:ext cx="2959100" cy="304800"/>
          </a:xfrm>
          <a:prstGeom prst="rect">
            <a:avLst/>
          </a:prstGeom>
          <a:noFill/>
        </p:spPr>
        <p:txBody>
          <a:bodyPr vert="horz" wrap="square" lIns="0" tIns="0" rIns="0" bIns="0" rtlCol="0">
            <a:noAutofit/>
          </a:bodyPr>
          <a:lstStyle/>
          <a:p>
            <a:pPr algn="r"/>
            <a:r>
              <a:rPr lang="en-US" sz="1200" b="1" smtClean="0">
                <a:solidFill>
                  <a:srgbClr val="426773"/>
                </a:solidFill>
                <a:latin typeface="Calibri"/>
              </a:rPr>
              <a:t>TOOLS PLANNED / USED</a:t>
            </a:r>
            <a:endParaRPr lang="en-US" sz="1200" b="1">
              <a:solidFill>
                <a:srgbClr val="426773"/>
              </a:solidFill>
              <a:latin typeface="Calibri"/>
            </a:endParaRPr>
          </a:p>
        </p:txBody>
      </p:sp>
      <p:sp>
        <p:nvSpPr>
          <p:cNvPr id="10" name="Rectangle 9"/>
          <p:cNvSpPr/>
          <p:nvPr/>
        </p:nvSpPr>
        <p:spPr>
          <a:xfrm>
            <a:off x="558800" y="2209800"/>
            <a:ext cx="11074400" cy="571500"/>
          </a:xfrm>
          <a:prstGeom prst="rect">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_8_11"/>
          <p:cNvSpPr txBox="1"/>
          <p:nvPr/>
        </p:nvSpPr>
        <p:spPr>
          <a:xfrm>
            <a:off x="749300" y="2336800"/>
            <a:ext cx="2641600" cy="342900"/>
          </a:xfrm>
          <a:prstGeom prst="rect">
            <a:avLst/>
          </a:prstGeom>
          <a:noFill/>
        </p:spPr>
        <p:txBody>
          <a:bodyPr vert="horz" wrap="square" lIns="0" tIns="0" rIns="0" bIns="0" rtlCol="0">
            <a:noAutofit/>
          </a:bodyPr>
          <a:lstStyle/>
          <a:p>
            <a:r>
              <a:rPr lang="en-US" sz="1700" b="1" smtClean="0">
                <a:solidFill>
                  <a:srgbClr val="083344"/>
                </a:solidFill>
                <a:latin typeface="Calibri"/>
              </a:rPr>
              <a:t>Frontend</a:t>
            </a:r>
            <a:endParaRPr lang="en-US" sz="1700" b="1">
              <a:solidFill>
                <a:srgbClr val="083344"/>
              </a:solidFill>
              <a:latin typeface="Calibri"/>
            </a:endParaRPr>
          </a:p>
        </p:txBody>
      </p:sp>
      <p:sp>
        <p:nvSpPr>
          <p:cNvPr id="12" name="Text_8_12"/>
          <p:cNvSpPr txBox="1"/>
          <p:nvPr/>
        </p:nvSpPr>
        <p:spPr>
          <a:xfrm>
            <a:off x="3543300" y="2336800"/>
            <a:ext cx="7874000" cy="342900"/>
          </a:xfrm>
          <a:prstGeom prst="rect">
            <a:avLst/>
          </a:prstGeom>
          <a:noFill/>
        </p:spPr>
        <p:txBody>
          <a:bodyPr vert="horz" wrap="square" lIns="0" tIns="0" rIns="0" bIns="0" rtlCol="0">
            <a:noAutofit/>
          </a:bodyPr>
          <a:lstStyle/>
          <a:p>
            <a:r>
              <a:rPr lang="en-US" smtClean="0">
                <a:solidFill>
                  <a:srgbClr val="083344"/>
                </a:solidFill>
                <a:latin typeface="Calibri"/>
              </a:rPr>
              <a:t>React 19, TypeScript, Vite 7, Tailwind CSS</a:t>
            </a:r>
            <a:endParaRPr lang="en-US">
              <a:solidFill>
                <a:srgbClr val="083344"/>
              </a:solidFill>
              <a:latin typeface="Calibri"/>
            </a:endParaRPr>
          </a:p>
        </p:txBody>
      </p:sp>
      <p:sp>
        <p:nvSpPr>
          <p:cNvPr id="13" name="Rectangle 12"/>
          <p:cNvSpPr/>
          <p:nvPr/>
        </p:nvSpPr>
        <p:spPr>
          <a:xfrm>
            <a:off x="558800" y="2870200"/>
            <a:ext cx="11074400" cy="571500"/>
          </a:xfrm>
          <a:prstGeom prst="rect">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_8_14"/>
          <p:cNvSpPr txBox="1"/>
          <p:nvPr/>
        </p:nvSpPr>
        <p:spPr>
          <a:xfrm>
            <a:off x="749300" y="2997200"/>
            <a:ext cx="2641600" cy="342900"/>
          </a:xfrm>
          <a:prstGeom prst="rect">
            <a:avLst/>
          </a:prstGeom>
          <a:noFill/>
        </p:spPr>
        <p:txBody>
          <a:bodyPr vert="horz" wrap="square" lIns="0" tIns="0" rIns="0" bIns="0" rtlCol="0">
            <a:noAutofit/>
          </a:bodyPr>
          <a:lstStyle/>
          <a:p>
            <a:r>
              <a:rPr lang="en-US" sz="1700" b="1" smtClean="0">
                <a:solidFill>
                  <a:srgbClr val="083344"/>
                </a:solidFill>
                <a:latin typeface="Calibri"/>
              </a:rPr>
              <a:t>Visualization</a:t>
            </a:r>
            <a:endParaRPr lang="en-US" sz="1700" b="1">
              <a:solidFill>
                <a:srgbClr val="083344"/>
              </a:solidFill>
              <a:latin typeface="Calibri"/>
            </a:endParaRPr>
          </a:p>
        </p:txBody>
      </p:sp>
      <p:sp>
        <p:nvSpPr>
          <p:cNvPr id="15" name="Text_8_15"/>
          <p:cNvSpPr txBox="1"/>
          <p:nvPr/>
        </p:nvSpPr>
        <p:spPr>
          <a:xfrm>
            <a:off x="3543300" y="2997200"/>
            <a:ext cx="7874000" cy="342900"/>
          </a:xfrm>
          <a:prstGeom prst="rect">
            <a:avLst/>
          </a:prstGeom>
          <a:noFill/>
        </p:spPr>
        <p:txBody>
          <a:bodyPr vert="horz" wrap="square" lIns="0" tIns="0" rIns="0" bIns="0" rtlCol="0">
            <a:noAutofit/>
          </a:bodyPr>
          <a:lstStyle/>
          <a:p>
            <a:r>
              <a:rPr lang="en-US" smtClean="0">
                <a:solidFill>
                  <a:srgbClr val="083344"/>
                </a:solidFill>
                <a:latin typeface="Calibri"/>
              </a:rPr>
              <a:t>Recharts and Lucide Icons</a:t>
            </a:r>
            <a:endParaRPr lang="en-US">
              <a:solidFill>
                <a:srgbClr val="083344"/>
              </a:solidFill>
              <a:latin typeface="Calibri"/>
            </a:endParaRPr>
          </a:p>
        </p:txBody>
      </p:sp>
      <p:sp>
        <p:nvSpPr>
          <p:cNvPr id="16" name="Rectangle 15"/>
          <p:cNvSpPr/>
          <p:nvPr/>
        </p:nvSpPr>
        <p:spPr>
          <a:xfrm>
            <a:off x="558800" y="3530600"/>
            <a:ext cx="11074400" cy="571500"/>
          </a:xfrm>
          <a:prstGeom prst="rect">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_8_17"/>
          <p:cNvSpPr txBox="1"/>
          <p:nvPr/>
        </p:nvSpPr>
        <p:spPr>
          <a:xfrm>
            <a:off x="749300" y="3657600"/>
            <a:ext cx="2641600" cy="342900"/>
          </a:xfrm>
          <a:prstGeom prst="rect">
            <a:avLst/>
          </a:prstGeom>
          <a:noFill/>
        </p:spPr>
        <p:txBody>
          <a:bodyPr vert="horz" wrap="square" lIns="0" tIns="0" rIns="0" bIns="0" rtlCol="0">
            <a:noAutofit/>
          </a:bodyPr>
          <a:lstStyle/>
          <a:p>
            <a:r>
              <a:rPr lang="en-US" sz="1700" b="1" smtClean="0">
                <a:solidFill>
                  <a:srgbClr val="083344"/>
                </a:solidFill>
                <a:latin typeface="Calibri"/>
              </a:rPr>
              <a:t>Machine learning</a:t>
            </a:r>
            <a:endParaRPr lang="en-US" sz="1700" b="1">
              <a:solidFill>
                <a:srgbClr val="083344"/>
              </a:solidFill>
              <a:latin typeface="Calibri"/>
            </a:endParaRPr>
          </a:p>
        </p:txBody>
      </p:sp>
      <p:sp>
        <p:nvSpPr>
          <p:cNvPr id="18" name="Text_8_18"/>
          <p:cNvSpPr txBox="1"/>
          <p:nvPr/>
        </p:nvSpPr>
        <p:spPr>
          <a:xfrm>
            <a:off x="3543300" y="3657600"/>
            <a:ext cx="7874000" cy="342900"/>
          </a:xfrm>
          <a:prstGeom prst="rect">
            <a:avLst/>
          </a:prstGeom>
          <a:noFill/>
        </p:spPr>
        <p:txBody>
          <a:bodyPr vert="horz" wrap="square" lIns="0" tIns="0" rIns="0" bIns="0" rtlCol="0">
            <a:noAutofit/>
          </a:bodyPr>
          <a:lstStyle/>
          <a:p>
            <a:r>
              <a:rPr lang="en-US" smtClean="0">
                <a:solidFill>
                  <a:srgbClr val="083344"/>
                </a:solidFill>
                <a:latin typeface="Calibri"/>
              </a:rPr>
              <a:t>Python, Pandas, NumPy, scikit-learn</a:t>
            </a:r>
            <a:endParaRPr lang="en-US">
              <a:solidFill>
                <a:srgbClr val="083344"/>
              </a:solidFill>
              <a:latin typeface="Calibri"/>
            </a:endParaRPr>
          </a:p>
        </p:txBody>
      </p:sp>
      <p:sp>
        <p:nvSpPr>
          <p:cNvPr id="19" name="Rectangle 18"/>
          <p:cNvSpPr/>
          <p:nvPr/>
        </p:nvSpPr>
        <p:spPr>
          <a:xfrm>
            <a:off x="558800" y="4191000"/>
            <a:ext cx="11074400" cy="571500"/>
          </a:xfrm>
          <a:prstGeom prst="rect">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_8_20"/>
          <p:cNvSpPr txBox="1"/>
          <p:nvPr/>
        </p:nvSpPr>
        <p:spPr>
          <a:xfrm>
            <a:off x="749300" y="4318000"/>
            <a:ext cx="2641600" cy="342900"/>
          </a:xfrm>
          <a:prstGeom prst="rect">
            <a:avLst/>
          </a:prstGeom>
          <a:noFill/>
        </p:spPr>
        <p:txBody>
          <a:bodyPr vert="horz" wrap="square" lIns="0" tIns="0" rIns="0" bIns="0" rtlCol="0">
            <a:noAutofit/>
          </a:bodyPr>
          <a:lstStyle/>
          <a:p>
            <a:r>
              <a:rPr lang="en-US" sz="1700" b="1" smtClean="0">
                <a:solidFill>
                  <a:srgbClr val="083344"/>
                </a:solidFill>
                <a:latin typeface="Calibri"/>
              </a:rPr>
              <a:t>AI integration</a:t>
            </a:r>
            <a:endParaRPr lang="en-US" sz="1700" b="1">
              <a:solidFill>
                <a:srgbClr val="083344"/>
              </a:solidFill>
              <a:latin typeface="Calibri"/>
            </a:endParaRPr>
          </a:p>
        </p:txBody>
      </p:sp>
      <p:sp>
        <p:nvSpPr>
          <p:cNvPr id="21" name="Text_8_21"/>
          <p:cNvSpPr txBox="1"/>
          <p:nvPr/>
        </p:nvSpPr>
        <p:spPr>
          <a:xfrm>
            <a:off x="3543300" y="4318000"/>
            <a:ext cx="7874000" cy="342900"/>
          </a:xfrm>
          <a:prstGeom prst="rect">
            <a:avLst/>
          </a:prstGeom>
          <a:noFill/>
        </p:spPr>
        <p:txBody>
          <a:bodyPr vert="horz" wrap="square" lIns="0" tIns="0" rIns="0" bIns="0" rtlCol="0">
            <a:noAutofit/>
          </a:bodyPr>
          <a:lstStyle/>
          <a:p>
            <a:r>
              <a:rPr lang="en-US" smtClean="0">
                <a:solidFill>
                  <a:srgbClr val="083344"/>
                </a:solidFill>
                <a:latin typeface="Calibri"/>
              </a:rPr>
              <a:t>Groq API through a serverless endpoint</a:t>
            </a:r>
            <a:endParaRPr lang="en-US">
              <a:solidFill>
                <a:srgbClr val="083344"/>
              </a:solidFill>
              <a:latin typeface="Calibri"/>
            </a:endParaRPr>
          </a:p>
        </p:txBody>
      </p:sp>
      <p:sp>
        <p:nvSpPr>
          <p:cNvPr id="22" name="Rectangle 21"/>
          <p:cNvSpPr/>
          <p:nvPr/>
        </p:nvSpPr>
        <p:spPr>
          <a:xfrm>
            <a:off x="558800" y="4851400"/>
            <a:ext cx="11074400" cy="571500"/>
          </a:xfrm>
          <a:prstGeom prst="rect">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_8_23"/>
          <p:cNvSpPr txBox="1"/>
          <p:nvPr/>
        </p:nvSpPr>
        <p:spPr>
          <a:xfrm>
            <a:off x="749300" y="4978400"/>
            <a:ext cx="2641600" cy="342900"/>
          </a:xfrm>
          <a:prstGeom prst="rect">
            <a:avLst/>
          </a:prstGeom>
          <a:noFill/>
        </p:spPr>
        <p:txBody>
          <a:bodyPr vert="horz" wrap="square" lIns="0" tIns="0" rIns="0" bIns="0" rtlCol="0">
            <a:noAutofit/>
          </a:bodyPr>
          <a:lstStyle/>
          <a:p>
            <a:r>
              <a:rPr lang="en-US" sz="1700" b="1" smtClean="0">
                <a:solidFill>
                  <a:srgbClr val="083344"/>
                </a:solidFill>
                <a:latin typeface="Calibri"/>
              </a:rPr>
              <a:t>Development</a:t>
            </a:r>
            <a:endParaRPr lang="en-US" sz="1700" b="1">
              <a:solidFill>
                <a:srgbClr val="083344"/>
              </a:solidFill>
              <a:latin typeface="Calibri"/>
            </a:endParaRPr>
          </a:p>
        </p:txBody>
      </p:sp>
      <p:sp>
        <p:nvSpPr>
          <p:cNvPr id="24" name="Text_8_24"/>
          <p:cNvSpPr txBox="1"/>
          <p:nvPr/>
        </p:nvSpPr>
        <p:spPr>
          <a:xfrm>
            <a:off x="3543300" y="4978400"/>
            <a:ext cx="7874000" cy="342900"/>
          </a:xfrm>
          <a:prstGeom prst="rect">
            <a:avLst/>
          </a:prstGeom>
          <a:noFill/>
        </p:spPr>
        <p:txBody>
          <a:bodyPr vert="horz" wrap="square" lIns="0" tIns="0" rIns="0" bIns="0" rtlCol="0">
            <a:noAutofit/>
          </a:bodyPr>
          <a:lstStyle/>
          <a:p>
            <a:r>
              <a:rPr lang="en-US" smtClean="0">
                <a:solidFill>
                  <a:srgbClr val="083344"/>
                </a:solidFill>
                <a:latin typeface="Calibri"/>
              </a:rPr>
              <a:t>Visual Studio Code, Git and GitHub workflow</a:t>
            </a:r>
            <a:endParaRPr lang="en-US">
              <a:solidFill>
                <a:srgbClr val="083344"/>
              </a:solidFill>
              <a:latin typeface="Calibri"/>
            </a:endParaRPr>
          </a:p>
        </p:txBody>
      </p:sp>
      <p:sp>
        <p:nvSpPr>
          <p:cNvPr id="25" name="Rectangle 24"/>
          <p:cNvSpPr/>
          <p:nvPr/>
        </p:nvSpPr>
        <p:spPr>
          <a:xfrm>
            <a:off x="558800" y="5511800"/>
            <a:ext cx="11074400" cy="571500"/>
          </a:xfrm>
          <a:prstGeom prst="rect">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_8_26"/>
          <p:cNvSpPr txBox="1"/>
          <p:nvPr/>
        </p:nvSpPr>
        <p:spPr>
          <a:xfrm>
            <a:off x="749300" y="5638800"/>
            <a:ext cx="2641600" cy="342900"/>
          </a:xfrm>
          <a:prstGeom prst="rect">
            <a:avLst/>
          </a:prstGeom>
          <a:noFill/>
        </p:spPr>
        <p:txBody>
          <a:bodyPr vert="horz" wrap="square" lIns="0" tIns="0" rIns="0" bIns="0" rtlCol="0">
            <a:noAutofit/>
          </a:bodyPr>
          <a:lstStyle/>
          <a:p>
            <a:r>
              <a:rPr lang="en-US" sz="1700" b="1" smtClean="0">
                <a:solidFill>
                  <a:srgbClr val="0891B2"/>
                </a:solidFill>
                <a:latin typeface="Calibri"/>
              </a:rPr>
              <a:t>Deployment target</a:t>
            </a:r>
            <a:endParaRPr lang="en-US" sz="1700" b="1">
              <a:solidFill>
                <a:srgbClr val="0891B2"/>
              </a:solidFill>
              <a:latin typeface="Calibri"/>
            </a:endParaRPr>
          </a:p>
        </p:txBody>
      </p:sp>
      <p:sp>
        <p:nvSpPr>
          <p:cNvPr id="27" name="Text_8_27"/>
          <p:cNvSpPr txBox="1"/>
          <p:nvPr/>
        </p:nvSpPr>
        <p:spPr>
          <a:xfrm>
            <a:off x="3543300" y="5638800"/>
            <a:ext cx="7874000" cy="342900"/>
          </a:xfrm>
          <a:prstGeom prst="rect">
            <a:avLst/>
          </a:prstGeom>
          <a:noFill/>
        </p:spPr>
        <p:txBody>
          <a:bodyPr vert="horz" wrap="square" lIns="0" tIns="0" rIns="0" bIns="0" rtlCol="0">
            <a:noAutofit/>
          </a:bodyPr>
          <a:lstStyle/>
          <a:p>
            <a:r>
              <a:rPr lang="en-US" smtClean="0">
                <a:solidFill>
                  <a:srgbClr val="083344"/>
                </a:solidFill>
                <a:latin typeface="Calibri"/>
              </a:rPr>
              <a:t>Vercel, Node.js 24.x</a:t>
            </a:r>
            <a:endParaRPr lang="en-US">
              <a:solidFill>
                <a:srgbClr val="083344"/>
              </a:solidFill>
              <a:latin typeface="Calibri"/>
            </a:endParaRPr>
          </a:p>
        </p:txBody>
      </p:sp>
      <p:sp>
        <p:nvSpPr>
          <p:cNvPr id="28" name="Text_8_28"/>
          <p:cNvSpPr txBox="1"/>
          <p:nvPr/>
        </p:nvSpPr>
        <p:spPr>
          <a:xfrm>
            <a:off x="558800" y="6248400"/>
            <a:ext cx="11074400" cy="228600"/>
          </a:xfrm>
          <a:prstGeom prst="rect">
            <a:avLst/>
          </a:prstGeom>
          <a:noFill/>
        </p:spPr>
        <p:txBody>
          <a:bodyPr vert="horz" wrap="square" lIns="0" tIns="0" rIns="0" bIns="0" rtlCol="0">
            <a:noAutofit/>
          </a:bodyPr>
          <a:lstStyle/>
          <a:p>
            <a:r>
              <a:rPr lang="en-US" sz="1150" smtClean="0">
                <a:solidFill>
                  <a:srgbClr val="426773"/>
                </a:solidFill>
                <a:latin typeface="Calibri"/>
              </a:rPr>
              <a:t>Groq integration is implemented. Production deployment and live-provider checks remain pending.</a:t>
            </a:r>
            <a:endParaRPr lang="en-US" sz="115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9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PROGRESS &amp; NEXT STEPS</a:t>
            </a:r>
            <a:endParaRPr lang="en-US" sz="1200" b="1">
              <a:solidFill>
                <a:srgbClr val="0891B2"/>
              </a:solidFill>
              <a:latin typeface="Calibri"/>
            </a:endParaRPr>
          </a:p>
        </p:txBody>
      </p:sp>
      <p:sp>
        <p:nvSpPr>
          <p:cNvPr id="3" name="Text_9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Current project progress</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9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9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9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09</a:t>
            </a:r>
            <a:endParaRPr lang="en-US" sz="1100" b="1">
              <a:solidFill>
                <a:srgbClr val="0891B2"/>
              </a:solidFill>
              <a:latin typeface="Calibri"/>
            </a:endParaRPr>
          </a:p>
        </p:txBody>
      </p:sp>
      <p:sp>
        <p:nvSpPr>
          <p:cNvPr id="8" name="Rounded Rectangle 7"/>
          <p:cNvSpPr/>
          <p:nvPr/>
        </p:nvSpPr>
        <p:spPr>
          <a:xfrm>
            <a:off x="558800" y="18415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_9_9"/>
          <p:cNvSpPr txBox="1"/>
          <p:nvPr/>
        </p:nvSpPr>
        <p:spPr>
          <a:xfrm>
            <a:off x="736600" y="19431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Dataset prepared</a:t>
            </a:r>
            <a:endParaRPr lang="en-US" b="1">
              <a:solidFill>
                <a:srgbClr val="083344"/>
              </a:solidFill>
              <a:latin typeface="Calibri"/>
            </a:endParaRPr>
          </a:p>
        </p:txBody>
      </p:sp>
      <p:sp>
        <p:nvSpPr>
          <p:cNvPr id="10" name="Text_9_10"/>
          <p:cNvSpPr txBox="1"/>
          <p:nvPr/>
        </p:nvSpPr>
        <p:spPr>
          <a:xfrm>
            <a:off x="736600" y="22606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11" name="Rounded Rectangle 10"/>
          <p:cNvSpPr/>
          <p:nvPr/>
        </p:nvSpPr>
        <p:spPr>
          <a:xfrm>
            <a:off x="6223000" y="18415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_9_12"/>
          <p:cNvSpPr txBox="1"/>
          <p:nvPr/>
        </p:nvSpPr>
        <p:spPr>
          <a:xfrm>
            <a:off x="6400800" y="19431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Model trained and evaluated</a:t>
            </a:r>
            <a:endParaRPr lang="en-US" b="1">
              <a:solidFill>
                <a:srgbClr val="083344"/>
              </a:solidFill>
              <a:latin typeface="Calibri"/>
            </a:endParaRPr>
          </a:p>
        </p:txBody>
      </p:sp>
      <p:sp>
        <p:nvSpPr>
          <p:cNvPr id="13" name="Text_9_13"/>
          <p:cNvSpPr txBox="1"/>
          <p:nvPr/>
        </p:nvSpPr>
        <p:spPr>
          <a:xfrm>
            <a:off x="6400800" y="22606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14" name="Rounded Rectangle 13"/>
          <p:cNvSpPr/>
          <p:nvPr/>
        </p:nvSpPr>
        <p:spPr>
          <a:xfrm>
            <a:off x="558800" y="26416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_9_15"/>
          <p:cNvSpPr txBox="1"/>
          <p:nvPr/>
        </p:nvSpPr>
        <p:spPr>
          <a:xfrm>
            <a:off x="736600" y="27432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React frontend developed</a:t>
            </a:r>
            <a:endParaRPr lang="en-US" b="1">
              <a:solidFill>
                <a:srgbClr val="083344"/>
              </a:solidFill>
              <a:latin typeface="Calibri"/>
            </a:endParaRPr>
          </a:p>
        </p:txBody>
      </p:sp>
      <p:sp>
        <p:nvSpPr>
          <p:cNvPr id="16" name="Text_9_16"/>
          <p:cNvSpPr txBox="1"/>
          <p:nvPr/>
        </p:nvSpPr>
        <p:spPr>
          <a:xfrm>
            <a:off x="736600" y="30607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17" name="Rounded Rectangle 16"/>
          <p:cNvSpPr/>
          <p:nvPr/>
        </p:nvSpPr>
        <p:spPr>
          <a:xfrm>
            <a:off x="6223000" y="26416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_9_18"/>
          <p:cNvSpPr txBox="1"/>
          <p:nvPr/>
        </p:nvSpPr>
        <p:spPr>
          <a:xfrm>
            <a:off x="6400800" y="27432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Interactive HDI Predictor</a:t>
            </a:r>
            <a:endParaRPr lang="en-US" b="1">
              <a:solidFill>
                <a:srgbClr val="083344"/>
              </a:solidFill>
              <a:latin typeface="Calibri"/>
            </a:endParaRPr>
          </a:p>
        </p:txBody>
      </p:sp>
      <p:sp>
        <p:nvSpPr>
          <p:cNvPr id="19" name="Text_9_19"/>
          <p:cNvSpPr txBox="1"/>
          <p:nvPr/>
        </p:nvSpPr>
        <p:spPr>
          <a:xfrm>
            <a:off x="6400800" y="30607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20" name="Rounded Rectangle 19"/>
          <p:cNvSpPr/>
          <p:nvPr/>
        </p:nvSpPr>
        <p:spPr>
          <a:xfrm>
            <a:off x="558800" y="34417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_9_21"/>
          <p:cNvSpPr txBox="1"/>
          <p:nvPr/>
        </p:nvSpPr>
        <p:spPr>
          <a:xfrm>
            <a:off x="736600" y="35433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Country data explorer</a:t>
            </a:r>
            <a:endParaRPr lang="en-US" b="1">
              <a:solidFill>
                <a:srgbClr val="083344"/>
              </a:solidFill>
              <a:latin typeface="Calibri"/>
            </a:endParaRPr>
          </a:p>
        </p:txBody>
      </p:sp>
      <p:sp>
        <p:nvSpPr>
          <p:cNvPr id="22" name="Text_9_22"/>
          <p:cNvSpPr txBox="1"/>
          <p:nvPr/>
        </p:nvSpPr>
        <p:spPr>
          <a:xfrm>
            <a:off x="736600" y="38608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23" name="Rounded Rectangle 22"/>
          <p:cNvSpPr/>
          <p:nvPr/>
        </p:nvSpPr>
        <p:spPr>
          <a:xfrm>
            <a:off x="6223000" y="34417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_9_24"/>
          <p:cNvSpPr txBox="1"/>
          <p:nvPr/>
        </p:nvSpPr>
        <p:spPr>
          <a:xfrm>
            <a:off x="6400800" y="35433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Historical charts</a:t>
            </a:r>
            <a:endParaRPr lang="en-US" b="1">
              <a:solidFill>
                <a:srgbClr val="083344"/>
              </a:solidFill>
              <a:latin typeface="Calibri"/>
            </a:endParaRPr>
          </a:p>
        </p:txBody>
      </p:sp>
      <p:sp>
        <p:nvSpPr>
          <p:cNvPr id="25" name="Text_9_25"/>
          <p:cNvSpPr txBox="1"/>
          <p:nvPr/>
        </p:nvSpPr>
        <p:spPr>
          <a:xfrm>
            <a:off x="6400800" y="38608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26" name="Rounded Rectangle 25"/>
          <p:cNvSpPr/>
          <p:nvPr/>
        </p:nvSpPr>
        <p:spPr>
          <a:xfrm>
            <a:off x="558800" y="42418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_9_27"/>
          <p:cNvSpPr txBox="1"/>
          <p:nvPr/>
        </p:nvSpPr>
        <p:spPr>
          <a:xfrm>
            <a:off x="736600" y="43434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Scenario analysis</a:t>
            </a:r>
            <a:endParaRPr lang="en-US" b="1">
              <a:solidFill>
                <a:srgbClr val="083344"/>
              </a:solidFill>
              <a:latin typeface="Calibri"/>
            </a:endParaRPr>
          </a:p>
        </p:txBody>
      </p:sp>
      <p:sp>
        <p:nvSpPr>
          <p:cNvPr id="28" name="Text_9_28"/>
          <p:cNvSpPr txBox="1"/>
          <p:nvPr/>
        </p:nvSpPr>
        <p:spPr>
          <a:xfrm>
            <a:off x="736600" y="46609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29" name="Rounded Rectangle 28"/>
          <p:cNvSpPr/>
          <p:nvPr/>
        </p:nvSpPr>
        <p:spPr>
          <a:xfrm>
            <a:off x="6223000" y="42418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_9_30"/>
          <p:cNvSpPr txBox="1"/>
          <p:nvPr/>
        </p:nvSpPr>
        <p:spPr>
          <a:xfrm>
            <a:off x="6400800" y="43434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Personal Groq key controls</a:t>
            </a:r>
            <a:endParaRPr lang="en-US" b="1">
              <a:solidFill>
                <a:srgbClr val="083344"/>
              </a:solidFill>
              <a:latin typeface="Calibri"/>
            </a:endParaRPr>
          </a:p>
        </p:txBody>
      </p:sp>
      <p:sp>
        <p:nvSpPr>
          <p:cNvPr id="31" name="Text_9_31"/>
          <p:cNvSpPr txBox="1"/>
          <p:nvPr/>
        </p:nvSpPr>
        <p:spPr>
          <a:xfrm>
            <a:off x="6400800" y="46609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VERIFIED LOCALLY</a:t>
            </a:r>
            <a:endParaRPr lang="en-US" sz="1050" b="1">
              <a:solidFill>
                <a:srgbClr val="0D796D"/>
              </a:solidFill>
              <a:latin typeface="Calibri"/>
            </a:endParaRPr>
          </a:p>
        </p:txBody>
      </p:sp>
      <p:sp>
        <p:nvSpPr>
          <p:cNvPr id="32" name="Rounded Rectangle 31"/>
          <p:cNvSpPr/>
          <p:nvPr/>
        </p:nvSpPr>
        <p:spPr>
          <a:xfrm>
            <a:off x="558800" y="50419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_9_33"/>
          <p:cNvSpPr txBox="1"/>
          <p:nvPr/>
        </p:nvSpPr>
        <p:spPr>
          <a:xfrm>
            <a:off x="736600" y="51435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Technical and academic documents</a:t>
            </a:r>
            <a:endParaRPr lang="en-US" b="1">
              <a:solidFill>
                <a:srgbClr val="083344"/>
              </a:solidFill>
              <a:latin typeface="Calibri"/>
            </a:endParaRPr>
          </a:p>
        </p:txBody>
      </p:sp>
      <p:sp>
        <p:nvSpPr>
          <p:cNvPr id="34" name="Text_9_34"/>
          <p:cNvSpPr txBox="1"/>
          <p:nvPr/>
        </p:nvSpPr>
        <p:spPr>
          <a:xfrm>
            <a:off x="736600" y="54610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COMPLETED</a:t>
            </a:r>
            <a:endParaRPr lang="en-US" sz="1050" b="1">
              <a:solidFill>
                <a:srgbClr val="0D796D"/>
              </a:solidFill>
              <a:latin typeface="Calibri"/>
            </a:endParaRPr>
          </a:p>
        </p:txBody>
      </p:sp>
      <p:sp>
        <p:nvSpPr>
          <p:cNvPr id="35" name="Rounded Rectangle 34"/>
          <p:cNvSpPr/>
          <p:nvPr/>
        </p:nvSpPr>
        <p:spPr>
          <a:xfrm>
            <a:off x="6223000" y="5041900"/>
            <a:ext cx="5410200" cy="685800"/>
          </a:xfrm>
          <a:prstGeom prst="roundRect">
            <a:avLst>
              <a:gd name="adj" fmla="val 8000"/>
            </a:avLst>
          </a:prstGeom>
          <a:solidFill>
            <a:srgbClr val="FFFF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_9_36"/>
          <p:cNvSpPr txBox="1"/>
          <p:nvPr/>
        </p:nvSpPr>
        <p:spPr>
          <a:xfrm>
            <a:off x="6400800" y="5143500"/>
            <a:ext cx="5080000" cy="304800"/>
          </a:xfrm>
          <a:prstGeom prst="rect">
            <a:avLst/>
          </a:prstGeom>
          <a:noFill/>
        </p:spPr>
        <p:txBody>
          <a:bodyPr vert="horz" wrap="square" lIns="0" tIns="0" rIns="0" bIns="0" rtlCol="0">
            <a:noAutofit/>
          </a:bodyPr>
          <a:lstStyle/>
          <a:p>
            <a:r>
              <a:rPr lang="en-US" b="1" smtClean="0">
                <a:solidFill>
                  <a:srgbClr val="083344"/>
                </a:solidFill>
                <a:latin typeface="Calibri"/>
              </a:rPr>
              <a:t>Local testing and production build</a:t>
            </a:r>
            <a:endParaRPr lang="en-US" b="1">
              <a:solidFill>
                <a:srgbClr val="083344"/>
              </a:solidFill>
              <a:latin typeface="Calibri"/>
            </a:endParaRPr>
          </a:p>
        </p:txBody>
      </p:sp>
      <p:sp>
        <p:nvSpPr>
          <p:cNvPr id="37" name="Text_9_37"/>
          <p:cNvSpPr txBox="1"/>
          <p:nvPr/>
        </p:nvSpPr>
        <p:spPr>
          <a:xfrm>
            <a:off x="6400800" y="5461000"/>
            <a:ext cx="5080000" cy="190500"/>
          </a:xfrm>
          <a:prstGeom prst="rect">
            <a:avLst/>
          </a:prstGeom>
          <a:noFill/>
        </p:spPr>
        <p:txBody>
          <a:bodyPr vert="horz" wrap="square" lIns="0" tIns="0" rIns="0" bIns="0" rtlCol="0">
            <a:noAutofit/>
          </a:bodyPr>
          <a:lstStyle/>
          <a:p>
            <a:r>
              <a:rPr lang="en-US" sz="1050" b="1" smtClean="0">
                <a:solidFill>
                  <a:srgbClr val="0D796D"/>
                </a:solidFill>
                <a:latin typeface="Calibri"/>
              </a:rPr>
              <a:t>VERIFIED LOCALLY</a:t>
            </a:r>
            <a:endParaRPr lang="en-US" sz="1050" b="1">
              <a:solidFill>
                <a:srgbClr val="0D796D"/>
              </a:solidFill>
              <a:latin typeface="Calibri"/>
            </a:endParaRPr>
          </a:p>
        </p:txBody>
      </p:sp>
      <p:sp>
        <p:nvSpPr>
          <p:cNvPr id="38" name="Rounded Rectangle 37"/>
          <p:cNvSpPr/>
          <p:nvPr/>
        </p:nvSpPr>
        <p:spPr>
          <a:xfrm>
            <a:off x="558800" y="5943600"/>
            <a:ext cx="11074400" cy="4445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_9_39"/>
          <p:cNvSpPr txBox="1"/>
          <p:nvPr/>
        </p:nvSpPr>
        <p:spPr>
          <a:xfrm>
            <a:off x="711200" y="6045200"/>
            <a:ext cx="10769600" cy="279400"/>
          </a:xfrm>
          <a:prstGeom prst="rect">
            <a:avLst/>
          </a:prstGeom>
          <a:noFill/>
        </p:spPr>
        <p:txBody>
          <a:bodyPr vert="horz" wrap="square" lIns="0" tIns="0" rIns="0" bIns="0" rtlCol="0">
            <a:noAutofit/>
          </a:bodyPr>
          <a:lstStyle/>
          <a:p>
            <a:r>
              <a:rPr lang="en-US" sz="1350" b="1" smtClean="0">
                <a:solidFill>
                  <a:srgbClr val="083344"/>
                </a:solidFill>
                <a:latin typeface="Calibri"/>
              </a:rPr>
              <a:t>Recorded on 28 Oct 2026: 22 Node tests, 11 browser tests, 1 production check and build passed</a:t>
            </a:r>
            <a:endParaRPr lang="en-US" sz="1350" b="1">
              <a:solidFill>
                <a:srgbClr val="083344"/>
              </a:solidFill>
              <a:latin typeface="Calibri"/>
            </a:endParaRPr>
          </a:p>
        </p:txBody>
      </p:sp>
    </p:spTree>
  </p:cSld>
  <p:clrMapOvr>
    <a:masterClrMapping/>
  </p:clrMapOvr>
  <p:transition>
    <p:fade thruBlk="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0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PROGRESS &amp; NEXT STEPS</a:t>
            </a:r>
            <a:endParaRPr lang="en-US" sz="1200" b="1">
              <a:solidFill>
                <a:srgbClr val="0891B2"/>
              </a:solidFill>
              <a:latin typeface="Calibri"/>
            </a:endParaRPr>
          </a:p>
        </p:txBody>
      </p:sp>
      <p:sp>
        <p:nvSpPr>
          <p:cNvPr id="3" name="Text_10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Application demonstration</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10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10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10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10</a:t>
            </a:r>
            <a:endParaRPr lang="en-US" sz="1100" b="1">
              <a:solidFill>
                <a:srgbClr val="0891B2"/>
              </a:solidFill>
              <a:latin typeface="Calibri"/>
            </a:endParaRPr>
          </a:p>
        </p:txBody>
      </p:sp>
      <p:sp>
        <p:nvSpPr>
          <p:cNvPr id="8" name="Text_10_8"/>
          <p:cNvSpPr txBox="1"/>
          <p:nvPr/>
        </p:nvSpPr>
        <p:spPr>
          <a:xfrm>
            <a:off x="558800" y="1676400"/>
            <a:ext cx="5372100" cy="304800"/>
          </a:xfrm>
          <a:prstGeom prst="rect">
            <a:avLst/>
          </a:prstGeom>
          <a:noFill/>
        </p:spPr>
        <p:txBody>
          <a:bodyPr vert="horz" wrap="square" lIns="0" tIns="0" rIns="0" bIns="0" rtlCol="0">
            <a:noAutofit/>
          </a:bodyPr>
          <a:lstStyle/>
          <a:p>
            <a:r>
              <a:rPr lang="en-US" b="1" smtClean="0">
                <a:solidFill>
                  <a:srgbClr val="083344"/>
                </a:solidFill>
                <a:latin typeface="Calibri"/>
              </a:rPr>
              <a:t>Home</a:t>
            </a:r>
            <a:endParaRPr lang="en-US" b="1">
              <a:solidFill>
                <a:srgbClr val="083344"/>
              </a:solidFill>
              <a:latin typeface="Calibri"/>
            </a:endParaRPr>
          </a:p>
        </p:txBody>
      </p:sp>
      <p:pic>
        <p:nvPicPr>
          <p:cNvPr id="9" name="Picture 8" descr="home-crop.png"/>
          <p:cNvPicPr>
            <a:picLocks/>
          </p:cNvPicPr>
          <p:nvPr/>
        </p:nvPicPr>
        <p:blipFill>
          <a:blip r:embed="rId3" cstate="print"/>
          <a:stretch>
            <a:fillRect/>
          </a:stretch>
        </p:blipFill>
        <p:spPr>
          <a:xfrm>
            <a:off x="558800" y="2044700"/>
            <a:ext cx="5384800" cy="1376172"/>
          </a:xfrm>
          <a:prstGeom prst="rect">
            <a:avLst/>
          </a:prstGeom>
        </p:spPr>
      </p:pic>
      <p:sp>
        <p:nvSpPr>
          <p:cNvPr id="10" name="Text_10_10"/>
          <p:cNvSpPr txBox="1"/>
          <p:nvPr/>
        </p:nvSpPr>
        <p:spPr>
          <a:xfrm>
            <a:off x="6248400" y="1676400"/>
            <a:ext cx="5384800" cy="304800"/>
          </a:xfrm>
          <a:prstGeom prst="rect">
            <a:avLst/>
          </a:prstGeom>
          <a:noFill/>
        </p:spPr>
        <p:txBody>
          <a:bodyPr vert="horz" wrap="square" lIns="0" tIns="0" rIns="0" bIns="0" rtlCol="0">
            <a:noAutofit/>
          </a:bodyPr>
          <a:lstStyle/>
          <a:p>
            <a:r>
              <a:rPr lang="en-US" b="1" smtClean="0">
                <a:solidFill>
                  <a:srgbClr val="083344"/>
                </a:solidFill>
                <a:latin typeface="Calibri"/>
              </a:rPr>
              <a:t>HDI Predictor</a:t>
            </a:r>
            <a:endParaRPr lang="en-US" b="1">
              <a:solidFill>
                <a:srgbClr val="083344"/>
              </a:solidFill>
              <a:latin typeface="Calibri"/>
            </a:endParaRPr>
          </a:p>
        </p:txBody>
      </p:sp>
      <p:pic>
        <p:nvPicPr>
          <p:cNvPr id="11" name="Picture 10" descr="predictor-crop.png"/>
          <p:cNvPicPr>
            <a:picLocks/>
          </p:cNvPicPr>
          <p:nvPr/>
        </p:nvPicPr>
        <p:blipFill>
          <a:blip r:embed="rId4" cstate="print"/>
          <a:stretch>
            <a:fillRect/>
          </a:stretch>
        </p:blipFill>
        <p:spPr>
          <a:xfrm>
            <a:off x="6248400" y="2044700"/>
            <a:ext cx="5384800" cy="2057907"/>
          </a:xfrm>
          <a:prstGeom prst="rect">
            <a:avLst/>
          </a:prstGeom>
        </p:spPr>
      </p:pic>
      <p:sp>
        <p:nvSpPr>
          <p:cNvPr id="12" name="Text_10_12"/>
          <p:cNvSpPr txBox="1"/>
          <p:nvPr/>
        </p:nvSpPr>
        <p:spPr>
          <a:xfrm>
            <a:off x="558800" y="3556000"/>
            <a:ext cx="5384800" cy="304800"/>
          </a:xfrm>
          <a:prstGeom prst="rect">
            <a:avLst/>
          </a:prstGeom>
          <a:noFill/>
        </p:spPr>
        <p:txBody>
          <a:bodyPr vert="horz" wrap="square" lIns="0" tIns="0" rIns="0" bIns="0" rtlCol="0">
            <a:noAutofit/>
          </a:bodyPr>
          <a:lstStyle/>
          <a:p>
            <a:r>
              <a:rPr lang="en-US" b="1" smtClean="0">
                <a:solidFill>
                  <a:srgbClr val="083344"/>
                </a:solidFill>
                <a:latin typeface="Calibri"/>
              </a:rPr>
              <a:t>Explore Data: Cyprus and China</a:t>
            </a:r>
            <a:endParaRPr lang="en-US" b="1">
              <a:solidFill>
                <a:srgbClr val="083344"/>
              </a:solidFill>
              <a:latin typeface="Calibri"/>
            </a:endParaRPr>
          </a:p>
        </p:txBody>
      </p:sp>
      <p:pic>
        <p:nvPicPr>
          <p:cNvPr id="13" name="Picture 12" descr="explore-crop.png"/>
          <p:cNvPicPr>
            <a:picLocks/>
          </p:cNvPicPr>
          <p:nvPr/>
        </p:nvPicPr>
        <p:blipFill>
          <a:blip r:embed="rId5" cstate="print"/>
          <a:stretch>
            <a:fillRect/>
          </a:stretch>
        </p:blipFill>
        <p:spPr>
          <a:xfrm>
            <a:off x="927100" y="3937000"/>
            <a:ext cx="4648200" cy="2474086"/>
          </a:xfrm>
          <a:prstGeom prst="rect">
            <a:avLst/>
          </a:prstGeom>
        </p:spPr>
      </p:pic>
      <p:sp>
        <p:nvSpPr>
          <p:cNvPr id="14" name="Text_10_14"/>
          <p:cNvSpPr txBox="1"/>
          <p:nvPr/>
        </p:nvSpPr>
        <p:spPr>
          <a:xfrm>
            <a:off x="6248400" y="4356100"/>
            <a:ext cx="5384800" cy="304800"/>
          </a:xfrm>
          <a:prstGeom prst="rect">
            <a:avLst/>
          </a:prstGeom>
          <a:noFill/>
        </p:spPr>
        <p:txBody>
          <a:bodyPr vert="horz" wrap="square" lIns="0" tIns="0" rIns="0" bIns="0" rtlCol="0">
            <a:noAutofit/>
          </a:bodyPr>
          <a:lstStyle/>
          <a:p>
            <a:r>
              <a:rPr lang="en-US" b="1" smtClean="0">
                <a:solidFill>
                  <a:srgbClr val="083344"/>
                </a:solidFill>
                <a:latin typeface="Calibri"/>
              </a:rPr>
              <a:t>Scenario Analysis</a:t>
            </a:r>
            <a:endParaRPr lang="en-US" b="1">
              <a:solidFill>
                <a:srgbClr val="083344"/>
              </a:solidFill>
              <a:latin typeface="Calibri"/>
            </a:endParaRPr>
          </a:p>
        </p:txBody>
      </p:sp>
      <p:pic>
        <p:nvPicPr>
          <p:cNvPr id="15" name="Picture 14" descr="scenarios-crop.png"/>
          <p:cNvPicPr>
            <a:picLocks/>
          </p:cNvPicPr>
          <p:nvPr/>
        </p:nvPicPr>
        <p:blipFill>
          <a:blip r:embed="rId6" cstate="print"/>
          <a:stretch>
            <a:fillRect/>
          </a:stretch>
        </p:blipFill>
        <p:spPr>
          <a:xfrm>
            <a:off x="6248400" y="4737100"/>
            <a:ext cx="5384800" cy="1589532"/>
          </a:xfrm>
          <a:prstGeom prst="rect">
            <a:avLst/>
          </a:prstGeom>
        </p:spPr>
      </p:pic>
      <p:sp>
        <p:nvSpPr>
          <p:cNvPr id="16" name="Text_10_16"/>
          <p:cNvSpPr txBox="1"/>
          <p:nvPr/>
        </p:nvSpPr>
        <p:spPr>
          <a:xfrm>
            <a:off x="8369300" y="4381500"/>
            <a:ext cx="3263900" cy="292100"/>
          </a:xfrm>
          <a:prstGeom prst="rect">
            <a:avLst/>
          </a:prstGeom>
          <a:noFill/>
        </p:spPr>
        <p:txBody>
          <a:bodyPr vert="horz" wrap="square" lIns="0" tIns="0" rIns="0" bIns="0" rtlCol="0">
            <a:noAutofit/>
          </a:bodyPr>
          <a:lstStyle/>
          <a:p>
            <a:pPr algn="r"/>
            <a:r>
              <a:rPr lang="en-US" sz="1350" b="1" smtClean="0">
                <a:solidFill>
                  <a:srgbClr val="0891B2"/>
                </a:solidFill>
                <a:latin typeface="Calibri"/>
              </a:rPr>
              <a:t>Change: +0.0692 HDI points</a:t>
            </a:r>
            <a:endParaRPr lang="en-US" sz="1350" b="1">
              <a:solidFill>
                <a:srgbClr val="0891B2"/>
              </a:solidFill>
              <a:latin typeface="Calibri"/>
            </a:endParaRPr>
          </a:p>
        </p:txBody>
      </p:sp>
    </p:spTree>
  </p:cSld>
  <p:clrMapOvr>
    <a:masterClrMapping/>
  </p:clrMapOvr>
  <p:transition>
    <p:fade thruBlk="1"/>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1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PROGRESS &amp; NEXT STEPS</a:t>
            </a:r>
            <a:endParaRPr lang="en-US" sz="1200" b="1">
              <a:solidFill>
                <a:srgbClr val="0891B2"/>
              </a:solidFill>
              <a:latin typeface="Calibri"/>
            </a:endParaRPr>
          </a:p>
        </p:txBody>
      </p:sp>
      <p:sp>
        <p:nvSpPr>
          <p:cNvPr id="3" name="Text_11_3"/>
          <p:cNvSpPr txBox="1"/>
          <p:nvPr/>
        </p:nvSpPr>
        <p:spPr>
          <a:xfrm>
            <a:off x="558800" y="787400"/>
            <a:ext cx="11049000" cy="762000"/>
          </a:xfrm>
          <a:prstGeom prst="rect">
            <a:avLst/>
          </a:prstGeom>
          <a:noFill/>
        </p:spPr>
        <p:txBody>
          <a:bodyPr vert="horz" wrap="square" lIns="0" tIns="0" rIns="0" bIns="0" rtlCol="0">
            <a:noAutofit/>
          </a:bodyPr>
          <a:lstStyle/>
          <a:p>
            <a:r>
              <a:rPr lang="en-US" sz="3100" b="1" smtClean="0">
                <a:solidFill>
                  <a:srgbClr val="083344"/>
                </a:solidFill>
                <a:latin typeface="Calibri"/>
              </a:rPr>
              <a:t>Next steps</a:t>
            </a:r>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11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11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11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11</a:t>
            </a:r>
            <a:endParaRPr lang="en-US" sz="1100" b="1">
              <a:solidFill>
                <a:srgbClr val="0891B2"/>
              </a:solidFill>
              <a:latin typeface="Calibri"/>
            </a:endParaRPr>
          </a:p>
        </p:txBody>
      </p:sp>
      <p:sp>
        <p:nvSpPr>
          <p:cNvPr id="8" name="Rounded Rectangle 7"/>
          <p:cNvSpPr/>
          <p:nvPr/>
        </p:nvSpPr>
        <p:spPr>
          <a:xfrm>
            <a:off x="558800" y="1739900"/>
            <a:ext cx="11074400" cy="558800"/>
          </a:xfrm>
          <a:prstGeom prst="roundRect">
            <a:avLst>
              <a:gd name="adj" fmla="val 8000"/>
            </a:avLst>
          </a:prstGeom>
          <a:solidFill>
            <a:srgbClr val="ECFEFF"/>
          </a:solidFill>
          <a:ln w="8889">
            <a:solidFill>
              <a:srgbClr val="C9E9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_11_9"/>
          <p:cNvSpPr txBox="1"/>
          <p:nvPr/>
        </p:nvSpPr>
        <p:spPr>
          <a:xfrm>
            <a:off x="762000" y="1879600"/>
            <a:ext cx="5842000" cy="342900"/>
          </a:xfrm>
          <a:prstGeom prst="rect">
            <a:avLst/>
          </a:prstGeom>
          <a:noFill/>
        </p:spPr>
        <p:txBody>
          <a:bodyPr vert="horz" wrap="square" lIns="0" tIns="0" rIns="0" bIns="0" rtlCol="0">
            <a:noAutofit/>
          </a:bodyPr>
          <a:lstStyle/>
          <a:p>
            <a:r>
              <a:rPr lang="en-US" sz="1900" b="1" smtClean="0">
                <a:solidFill>
                  <a:srgbClr val="0891B2"/>
                </a:solidFill>
                <a:latin typeface="Calibri"/>
              </a:rPr>
              <a:t>Development completed locally</a:t>
            </a:r>
            <a:endParaRPr lang="en-US" sz="1900" b="1">
              <a:solidFill>
                <a:srgbClr val="0891B2"/>
              </a:solidFill>
              <a:latin typeface="Calibri"/>
            </a:endParaRPr>
          </a:p>
        </p:txBody>
      </p:sp>
      <p:sp>
        <p:nvSpPr>
          <p:cNvPr id="10" name="Text_11_10"/>
          <p:cNvSpPr txBox="1"/>
          <p:nvPr/>
        </p:nvSpPr>
        <p:spPr>
          <a:xfrm>
            <a:off x="6794500" y="1917700"/>
            <a:ext cx="4597400" cy="279400"/>
          </a:xfrm>
          <a:prstGeom prst="rect">
            <a:avLst/>
          </a:prstGeom>
          <a:noFill/>
        </p:spPr>
        <p:txBody>
          <a:bodyPr vert="horz" wrap="square" lIns="0" tIns="0" rIns="0" bIns="0" rtlCol="0">
            <a:noAutofit/>
          </a:bodyPr>
          <a:lstStyle/>
          <a:p>
            <a:pPr algn="r"/>
            <a:r>
              <a:rPr lang="en-US" sz="1150" b="1" smtClean="0">
                <a:solidFill>
                  <a:srgbClr val="426773"/>
                </a:solidFill>
                <a:latin typeface="Calibri"/>
              </a:rPr>
              <a:t>PUBLICATION AND HOSTING REMAIN</a:t>
            </a:r>
            <a:endParaRPr lang="en-US" sz="1150" b="1">
              <a:solidFill>
                <a:srgbClr val="426773"/>
              </a:solidFill>
              <a:latin typeface="Calibri"/>
            </a:endParaRPr>
          </a:p>
        </p:txBody>
      </p:sp>
      <p:sp>
        <p:nvSpPr>
          <p:cNvPr id="11" name="Text_11_11"/>
          <p:cNvSpPr txBox="1"/>
          <p:nvPr/>
        </p:nvSpPr>
        <p:spPr>
          <a:xfrm>
            <a:off x="558800" y="2590800"/>
            <a:ext cx="685800" cy="444500"/>
          </a:xfrm>
          <a:prstGeom prst="rect">
            <a:avLst/>
          </a:prstGeom>
          <a:noFill/>
        </p:spPr>
        <p:txBody>
          <a:bodyPr vert="horz" wrap="square" lIns="0" tIns="0" rIns="0" bIns="0" rtlCol="0">
            <a:noAutofit/>
          </a:bodyPr>
          <a:lstStyle/>
          <a:p>
            <a:r>
              <a:rPr lang="en-US" sz="2600" b="1" smtClean="0">
                <a:solidFill>
                  <a:srgbClr val="0891B2"/>
                </a:solidFill>
                <a:latin typeface="Calibri"/>
              </a:rPr>
              <a:t>01</a:t>
            </a:r>
            <a:endParaRPr lang="en-US" sz="2600" b="1">
              <a:solidFill>
                <a:srgbClr val="0891B2"/>
              </a:solidFill>
              <a:latin typeface="Calibri"/>
            </a:endParaRPr>
          </a:p>
        </p:txBody>
      </p:sp>
      <p:sp>
        <p:nvSpPr>
          <p:cNvPr id="12" name="Text_11_12"/>
          <p:cNvSpPr txBox="1"/>
          <p:nvPr/>
        </p:nvSpPr>
        <p:spPr>
          <a:xfrm>
            <a:off x="1422400" y="2590800"/>
            <a:ext cx="10210800" cy="317500"/>
          </a:xfrm>
          <a:prstGeom prst="rect">
            <a:avLst/>
          </a:prstGeom>
          <a:noFill/>
        </p:spPr>
        <p:txBody>
          <a:bodyPr vert="horz" wrap="square" lIns="0" tIns="0" rIns="0" bIns="0" rtlCol="0">
            <a:noAutofit/>
          </a:bodyPr>
          <a:lstStyle/>
          <a:p>
            <a:r>
              <a:rPr lang="en-US" sz="2000" b="1" smtClean="0">
                <a:solidFill>
                  <a:srgbClr val="083344"/>
                </a:solidFill>
                <a:latin typeface="Calibri"/>
              </a:rPr>
              <a:t>Publish the cleaned project</a:t>
            </a:r>
            <a:endParaRPr lang="en-US" sz="2000" b="1">
              <a:solidFill>
                <a:srgbClr val="083344"/>
              </a:solidFill>
              <a:latin typeface="Calibri"/>
            </a:endParaRPr>
          </a:p>
        </p:txBody>
      </p:sp>
      <p:sp>
        <p:nvSpPr>
          <p:cNvPr id="13" name="Text_11_13"/>
          <p:cNvSpPr txBox="1"/>
          <p:nvPr/>
        </p:nvSpPr>
        <p:spPr>
          <a:xfrm>
            <a:off x="1422400" y="2946400"/>
            <a:ext cx="10210800" cy="279400"/>
          </a:xfrm>
          <a:prstGeom prst="rect">
            <a:avLst/>
          </a:prstGeom>
          <a:noFill/>
        </p:spPr>
        <p:txBody>
          <a:bodyPr vert="horz" wrap="square" lIns="0" tIns="0" rIns="0" bIns="0" rtlCol="0">
            <a:noAutofit/>
          </a:bodyPr>
          <a:lstStyle/>
          <a:p>
            <a:r>
              <a:rPr lang="en-US" sz="1450" smtClean="0">
                <a:solidFill>
                  <a:srgbClr val="426773"/>
                </a:solidFill>
                <a:latin typeface="Calibri"/>
              </a:rPr>
              <a:t>Push the current version to the existing GitHub repository.</a:t>
            </a:r>
            <a:endParaRPr lang="en-US" sz="1450">
              <a:solidFill>
                <a:srgbClr val="426773"/>
              </a:solidFill>
              <a:latin typeface="Calibri"/>
            </a:endParaRPr>
          </a:p>
        </p:txBody>
      </p:sp>
      <p:cxnSp>
        <p:nvCxnSpPr>
          <p:cNvPr id="14" name="Straight Arrow Connector 13"/>
          <p:cNvCxnSpPr/>
          <p:nvPr/>
        </p:nvCxnSpPr>
        <p:spPr>
          <a:xfrm>
            <a:off x="876300" y="3022600"/>
            <a:ext cx="0" cy="241300"/>
          </a:xfrm>
          <a:prstGeom prst="straightConnector1">
            <a:avLst/>
          </a:prstGeom>
          <a:ln w="25400">
            <a:solidFill>
              <a:srgbClr val="C9E9EF"/>
            </a:solidFill>
          </a:ln>
        </p:spPr>
        <p:style>
          <a:lnRef idx="1">
            <a:schemeClr val="accent1"/>
          </a:lnRef>
          <a:fillRef idx="0">
            <a:schemeClr val="accent1"/>
          </a:fillRef>
          <a:effectRef idx="0">
            <a:schemeClr val="accent1"/>
          </a:effectRef>
          <a:fontRef idx="minor">
            <a:schemeClr val="tx1"/>
          </a:fontRef>
        </p:style>
      </p:cxnSp>
      <p:sp>
        <p:nvSpPr>
          <p:cNvPr id="15" name="Text_11_15"/>
          <p:cNvSpPr txBox="1"/>
          <p:nvPr/>
        </p:nvSpPr>
        <p:spPr>
          <a:xfrm>
            <a:off x="558800" y="3314700"/>
            <a:ext cx="685800" cy="444500"/>
          </a:xfrm>
          <a:prstGeom prst="rect">
            <a:avLst/>
          </a:prstGeom>
          <a:noFill/>
        </p:spPr>
        <p:txBody>
          <a:bodyPr vert="horz" wrap="square" lIns="0" tIns="0" rIns="0" bIns="0" rtlCol="0">
            <a:noAutofit/>
          </a:bodyPr>
          <a:lstStyle/>
          <a:p>
            <a:r>
              <a:rPr lang="en-US" sz="2600" b="1" smtClean="0">
                <a:solidFill>
                  <a:srgbClr val="0891B2"/>
                </a:solidFill>
                <a:latin typeface="Calibri"/>
              </a:rPr>
              <a:t>02</a:t>
            </a:r>
            <a:endParaRPr lang="en-US" sz="2600" b="1">
              <a:solidFill>
                <a:srgbClr val="0891B2"/>
              </a:solidFill>
              <a:latin typeface="Calibri"/>
            </a:endParaRPr>
          </a:p>
        </p:txBody>
      </p:sp>
      <p:sp>
        <p:nvSpPr>
          <p:cNvPr id="16" name="Text_11_16"/>
          <p:cNvSpPr txBox="1"/>
          <p:nvPr/>
        </p:nvSpPr>
        <p:spPr>
          <a:xfrm>
            <a:off x="1422400" y="3314700"/>
            <a:ext cx="10210800" cy="317500"/>
          </a:xfrm>
          <a:prstGeom prst="rect">
            <a:avLst/>
          </a:prstGeom>
          <a:noFill/>
        </p:spPr>
        <p:txBody>
          <a:bodyPr vert="horz" wrap="square" lIns="0" tIns="0" rIns="0" bIns="0" rtlCol="0">
            <a:noAutofit/>
          </a:bodyPr>
          <a:lstStyle/>
          <a:p>
            <a:r>
              <a:rPr lang="en-US" sz="2000" b="1" smtClean="0">
                <a:solidFill>
                  <a:srgbClr val="083344"/>
                </a:solidFill>
                <a:latin typeface="Calibri"/>
              </a:rPr>
              <a:t>Deploy HDI Intelligence</a:t>
            </a:r>
            <a:endParaRPr lang="en-US" sz="2000" b="1">
              <a:solidFill>
                <a:srgbClr val="083344"/>
              </a:solidFill>
              <a:latin typeface="Calibri"/>
            </a:endParaRPr>
          </a:p>
        </p:txBody>
      </p:sp>
      <p:sp>
        <p:nvSpPr>
          <p:cNvPr id="17" name="Text_11_17"/>
          <p:cNvSpPr txBox="1"/>
          <p:nvPr/>
        </p:nvSpPr>
        <p:spPr>
          <a:xfrm>
            <a:off x="1422400" y="3670300"/>
            <a:ext cx="10210800" cy="279400"/>
          </a:xfrm>
          <a:prstGeom prst="rect">
            <a:avLst/>
          </a:prstGeom>
          <a:noFill/>
        </p:spPr>
        <p:txBody>
          <a:bodyPr vert="horz" wrap="square" lIns="0" tIns="0" rIns="0" bIns="0" rtlCol="0">
            <a:noAutofit/>
          </a:bodyPr>
          <a:lstStyle/>
          <a:p>
            <a:r>
              <a:rPr lang="en-US" sz="1450" smtClean="0">
                <a:solidFill>
                  <a:srgbClr val="426773"/>
                </a:solidFill>
                <a:latin typeface="Calibri"/>
              </a:rPr>
              <a:t>Create or confirm the Vercel project: hdi-intelligence.</a:t>
            </a:r>
            <a:endParaRPr lang="en-US" sz="1450">
              <a:solidFill>
                <a:srgbClr val="426773"/>
              </a:solidFill>
              <a:latin typeface="Calibri"/>
            </a:endParaRPr>
          </a:p>
        </p:txBody>
      </p:sp>
      <p:cxnSp>
        <p:nvCxnSpPr>
          <p:cNvPr id="18" name="Straight Arrow Connector 17"/>
          <p:cNvCxnSpPr/>
          <p:nvPr/>
        </p:nvCxnSpPr>
        <p:spPr>
          <a:xfrm>
            <a:off x="876300" y="3746500"/>
            <a:ext cx="0" cy="241300"/>
          </a:xfrm>
          <a:prstGeom prst="straightConnector1">
            <a:avLst/>
          </a:prstGeom>
          <a:ln w="25400">
            <a:solidFill>
              <a:srgbClr val="C9E9EF"/>
            </a:solidFill>
          </a:ln>
        </p:spPr>
        <p:style>
          <a:lnRef idx="1">
            <a:schemeClr val="accent1"/>
          </a:lnRef>
          <a:fillRef idx="0">
            <a:schemeClr val="accent1"/>
          </a:fillRef>
          <a:effectRef idx="0">
            <a:schemeClr val="accent1"/>
          </a:effectRef>
          <a:fontRef idx="minor">
            <a:schemeClr val="tx1"/>
          </a:fontRef>
        </p:style>
      </p:cxnSp>
      <p:sp>
        <p:nvSpPr>
          <p:cNvPr id="19" name="Text_11_19"/>
          <p:cNvSpPr txBox="1"/>
          <p:nvPr/>
        </p:nvSpPr>
        <p:spPr>
          <a:xfrm>
            <a:off x="558800" y="4038600"/>
            <a:ext cx="685800" cy="444500"/>
          </a:xfrm>
          <a:prstGeom prst="rect">
            <a:avLst/>
          </a:prstGeom>
          <a:noFill/>
        </p:spPr>
        <p:txBody>
          <a:bodyPr vert="horz" wrap="square" lIns="0" tIns="0" rIns="0" bIns="0" rtlCol="0">
            <a:noAutofit/>
          </a:bodyPr>
          <a:lstStyle/>
          <a:p>
            <a:r>
              <a:rPr lang="en-US" sz="2600" b="1" smtClean="0">
                <a:solidFill>
                  <a:srgbClr val="0891B2"/>
                </a:solidFill>
                <a:latin typeface="Calibri"/>
              </a:rPr>
              <a:t>03</a:t>
            </a:r>
            <a:endParaRPr lang="en-US" sz="2600" b="1">
              <a:solidFill>
                <a:srgbClr val="0891B2"/>
              </a:solidFill>
              <a:latin typeface="Calibri"/>
            </a:endParaRPr>
          </a:p>
        </p:txBody>
      </p:sp>
      <p:sp>
        <p:nvSpPr>
          <p:cNvPr id="20" name="Text_11_20"/>
          <p:cNvSpPr txBox="1"/>
          <p:nvPr/>
        </p:nvSpPr>
        <p:spPr>
          <a:xfrm>
            <a:off x="1422400" y="4038600"/>
            <a:ext cx="10210800" cy="317500"/>
          </a:xfrm>
          <a:prstGeom prst="rect">
            <a:avLst/>
          </a:prstGeom>
          <a:noFill/>
        </p:spPr>
        <p:txBody>
          <a:bodyPr vert="horz" wrap="square" lIns="0" tIns="0" rIns="0" bIns="0" rtlCol="0">
            <a:noAutofit/>
          </a:bodyPr>
          <a:lstStyle/>
          <a:p>
            <a:r>
              <a:rPr lang="en-US" sz="2000" b="1" smtClean="0">
                <a:solidFill>
                  <a:srgbClr val="083344"/>
                </a:solidFill>
                <a:latin typeface="Calibri"/>
              </a:rPr>
              <a:t>Configure production</a:t>
            </a:r>
            <a:endParaRPr lang="en-US" sz="2000" b="1">
              <a:solidFill>
                <a:srgbClr val="083344"/>
              </a:solidFill>
              <a:latin typeface="Calibri"/>
            </a:endParaRPr>
          </a:p>
        </p:txBody>
      </p:sp>
      <p:sp>
        <p:nvSpPr>
          <p:cNvPr id="21" name="Text_11_21"/>
          <p:cNvSpPr txBox="1"/>
          <p:nvPr/>
        </p:nvSpPr>
        <p:spPr>
          <a:xfrm>
            <a:off x="1422400" y="4394200"/>
            <a:ext cx="10210800" cy="279400"/>
          </a:xfrm>
          <a:prstGeom prst="rect">
            <a:avLst/>
          </a:prstGeom>
          <a:noFill/>
        </p:spPr>
        <p:txBody>
          <a:bodyPr vert="horz" wrap="square" lIns="0" tIns="0" rIns="0" bIns="0" rtlCol="0">
            <a:noAutofit/>
          </a:bodyPr>
          <a:lstStyle/>
          <a:p>
            <a:r>
              <a:rPr lang="en-US" sz="1450" smtClean="0">
                <a:solidFill>
                  <a:srgbClr val="426773"/>
                </a:solidFill>
                <a:latin typeface="Calibri"/>
              </a:rPr>
              <a:t>Set APP_ORIGIN and the required environment configuration.</a:t>
            </a:r>
            <a:endParaRPr lang="en-US" sz="1450">
              <a:solidFill>
                <a:srgbClr val="426773"/>
              </a:solidFill>
              <a:latin typeface="Calibri"/>
            </a:endParaRPr>
          </a:p>
        </p:txBody>
      </p:sp>
      <p:cxnSp>
        <p:nvCxnSpPr>
          <p:cNvPr id="22" name="Straight Arrow Connector 21"/>
          <p:cNvCxnSpPr/>
          <p:nvPr/>
        </p:nvCxnSpPr>
        <p:spPr>
          <a:xfrm>
            <a:off x="876300" y="4470400"/>
            <a:ext cx="0" cy="241300"/>
          </a:xfrm>
          <a:prstGeom prst="straightConnector1">
            <a:avLst/>
          </a:prstGeom>
          <a:ln w="25400">
            <a:solidFill>
              <a:srgbClr val="C9E9EF"/>
            </a:solidFill>
          </a:ln>
        </p:spPr>
        <p:style>
          <a:lnRef idx="1">
            <a:schemeClr val="accent1"/>
          </a:lnRef>
          <a:fillRef idx="0">
            <a:schemeClr val="accent1"/>
          </a:fillRef>
          <a:effectRef idx="0">
            <a:schemeClr val="accent1"/>
          </a:effectRef>
          <a:fontRef idx="minor">
            <a:schemeClr val="tx1"/>
          </a:fontRef>
        </p:style>
      </p:cxnSp>
      <p:sp>
        <p:nvSpPr>
          <p:cNvPr id="23" name="Text_11_23"/>
          <p:cNvSpPr txBox="1"/>
          <p:nvPr/>
        </p:nvSpPr>
        <p:spPr>
          <a:xfrm>
            <a:off x="558800" y="4762500"/>
            <a:ext cx="685800" cy="444500"/>
          </a:xfrm>
          <a:prstGeom prst="rect">
            <a:avLst/>
          </a:prstGeom>
          <a:noFill/>
        </p:spPr>
        <p:txBody>
          <a:bodyPr vert="horz" wrap="square" lIns="0" tIns="0" rIns="0" bIns="0" rtlCol="0">
            <a:noAutofit/>
          </a:bodyPr>
          <a:lstStyle/>
          <a:p>
            <a:r>
              <a:rPr lang="en-US" sz="2600" b="1" smtClean="0">
                <a:solidFill>
                  <a:srgbClr val="0891B2"/>
                </a:solidFill>
                <a:latin typeface="Calibri"/>
              </a:rPr>
              <a:t>04</a:t>
            </a:r>
            <a:endParaRPr lang="en-US" sz="2600" b="1">
              <a:solidFill>
                <a:srgbClr val="0891B2"/>
              </a:solidFill>
              <a:latin typeface="Calibri"/>
            </a:endParaRPr>
          </a:p>
        </p:txBody>
      </p:sp>
      <p:sp>
        <p:nvSpPr>
          <p:cNvPr id="24" name="Text_11_24"/>
          <p:cNvSpPr txBox="1"/>
          <p:nvPr/>
        </p:nvSpPr>
        <p:spPr>
          <a:xfrm>
            <a:off x="1422400" y="4762500"/>
            <a:ext cx="10210800" cy="317500"/>
          </a:xfrm>
          <a:prstGeom prst="rect">
            <a:avLst/>
          </a:prstGeom>
          <a:noFill/>
        </p:spPr>
        <p:txBody>
          <a:bodyPr vert="horz" wrap="square" lIns="0" tIns="0" rIns="0" bIns="0" rtlCol="0">
            <a:noAutofit/>
          </a:bodyPr>
          <a:lstStyle/>
          <a:p>
            <a:r>
              <a:rPr lang="en-US" sz="2000" b="1" smtClean="0">
                <a:solidFill>
                  <a:srgbClr val="083344"/>
                </a:solidFill>
                <a:latin typeface="Calibri"/>
              </a:rPr>
              <a:t>Verify the hosted workflow</a:t>
            </a:r>
            <a:endParaRPr lang="en-US" sz="2000" b="1">
              <a:solidFill>
                <a:srgbClr val="083344"/>
              </a:solidFill>
              <a:latin typeface="Calibri"/>
            </a:endParaRPr>
          </a:p>
        </p:txBody>
      </p:sp>
      <p:sp>
        <p:nvSpPr>
          <p:cNvPr id="25" name="Text_11_25"/>
          <p:cNvSpPr txBox="1"/>
          <p:nvPr/>
        </p:nvSpPr>
        <p:spPr>
          <a:xfrm>
            <a:off x="1422400" y="5118100"/>
            <a:ext cx="10210800" cy="279400"/>
          </a:xfrm>
          <a:prstGeom prst="rect">
            <a:avLst/>
          </a:prstGeom>
          <a:noFill/>
        </p:spPr>
        <p:txBody>
          <a:bodyPr vert="horz" wrap="square" lIns="0" tIns="0" rIns="0" bIns="0" rtlCol="0">
            <a:noAutofit/>
          </a:bodyPr>
          <a:lstStyle/>
          <a:p>
            <a:r>
              <a:rPr lang="en-US" sz="1450" smtClean="0">
                <a:solidFill>
                  <a:srgbClr val="426773"/>
                </a:solidFill>
                <a:latin typeface="Calibri"/>
              </a:rPr>
              <a:t>Check routes, charts, predictions and a genuine Groq request.</a:t>
            </a:r>
            <a:endParaRPr lang="en-US" sz="1450">
              <a:solidFill>
                <a:srgbClr val="426773"/>
              </a:solidFill>
              <a:latin typeface="Calibri"/>
            </a:endParaRPr>
          </a:p>
        </p:txBody>
      </p:sp>
      <p:cxnSp>
        <p:nvCxnSpPr>
          <p:cNvPr id="26" name="Straight Arrow Connector 25"/>
          <p:cNvCxnSpPr/>
          <p:nvPr/>
        </p:nvCxnSpPr>
        <p:spPr>
          <a:xfrm>
            <a:off x="876300" y="5194300"/>
            <a:ext cx="0" cy="241300"/>
          </a:xfrm>
          <a:prstGeom prst="straightConnector1">
            <a:avLst/>
          </a:prstGeom>
          <a:ln w="25400">
            <a:solidFill>
              <a:srgbClr val="C9E9EF"/>
            </a:solidFill>
          </a:ln>
        </p:spPr>
        <p:style>
          <a:lnRef idx="1">
            <a:schemeClr val="accent1"/>
          </a:lnRef>
          <a:fillRef idx="0">
            <a:schemeClr val="accent1"/>
          </a:fillRef>
          <a:effectRef idx="0">
            <a:schemeClr val="accent1"/>
          </a:effectRef>
          <a:fontRef idx="minor">
            <a:schemeClr val="tx1"/>
          </a:fontRef>
        </p:style>
      </p:cxnSp>
      <p:sp>
        <p:nvSpPr>
          <p:cNvPr id="27" name="Text_11_27"/>
          <p:cNvSpPr txBox="1"/>
          <p:nvPr/>
        </p:nvSpPr>
        <p:spPr>
          <a:xfrm>
            <a:off x="558800" y="5486400"/>
            <a:ext cx="685800" cy="444500"/>
          </a:xfrm>
          <a:prstGeom prst="rect">
            <a:avLst/>
          </a:prstGeom>
          <a:noFill/>
        </p:spPr>
        <p:txBody>
          <a:bodyPr vert="horz" wrap="square" lIns="0" tIns="0" rIns="0" bIns="0" rtlCol="0">
            <a:noAutofit/>
          </a:bodyPr>
          <a:lstStyle/>
          <a:p>
            <a:r>
              <a:rPr lang="en-US" sz="2600" b="1" smtClean="0">
                <a:solidFill>
                  <a:srgbClr val="0891B2"/>
                </a:solidFill>
                <a:latin typeface="Calibri"/>
              </a:rPr>
              <a:t>05</a:t>
            </a:r>
            <a:endParaRPr lang="en-US" sz="2600" b="1">
              <a:solidFill>
                <a:srgbClr val="0891B2"/>
              </a:solidFill>
              <a:latin typeface="Calibri"/>
            </a:endParaRPr>
          </a:p>
        </p:txBody>
      </p:sp>
      <p:sp>
        <p:nvSpPr>
          <p:cNvPr id="28" name="Text_11_28"/>
          <p:cNvSpPr txBox="1"/>
          <p:nvPr/>
        </p:nvSpPr>
        <p:spPr>
          <a:xfrm>
            <a:off x="1422400" y="5486400"/>
            <a:ext cx="10210800" cy="317500"/>
          </a:xfrm>
          <a:prstGeom prst="rect">
            <a:avLst/>
          </a:prstGeom>
          <a:noFill/>
        </p:spPr>
        <p:txBody>
          <a:bodyPr vert="horz" wrap="square" lIns="0" tIns="0" rIns="0" bIns="0" rtlCol="0">
            <a:noAutofit/>
          </a:bodyPr>
          <a:lstStyle/>
          <a:p>
            <a:r>
              <a:rPr lang="en-US" sz="2000" b="1" smtClean="0">
                <a:solidFill>
                  <a:srgbClr val="083344"/>
                </a:solidFill>
                <a:latin typeface="Calibri"/>
              </a:rPr>
              <a:t>Complete faculty review</a:t>
            </a:r>
            <a:endParaRPr lang="en-US" sz="2000" b="1">
              <a:solidFill>
                <a:srgbClr val="083344"/>
              </a:solidFill>
              <a:latin typeface="Calibri"/>
            </a:endParaRPr>
          </a:p>
        </p:txBody>
      </p:sp>
      <p:sp>
        <p:nvSpPr>
          <p:cNvPr id="29" name="Text_11_29"/>
          <p:cNvSpPr txBox="1"/>
          <p:nvPr/>
        </p:nvSpPr>
        <p:spPr>
          <a:xfrm>
            <a:off x="1422400" y="5842000"/>
            <a:ext cx="10210800" cy="279400"/>
          </a:xfrm>
          <a:prstGeom prst="rect">
            <a:avLst/>
          </a:prstGeom>
          <a:noFill/>
        </p:spPr>
        <p:txBody>
          <a:bodyPr vert="horz" wrap="square" lIns="0" tIns="0" rIns="0" bIns="0" rtlCol="0">
            <a:noAutofit/>
          </a:bodyPr>
          <a:lstStyle/>
          <a:p>
            <a:r>
              <a:rPr lang="en-US" sz="1450" smtClean="0">
                <a:solidFill>
                  <a:srgbClr val="426773"/>
                </a:solidFill>
                <a:latin typeface="Calibri"/>
              </a:rPr>
              <a:t>Collect feedback and make the final improvements.</a:t>
            </a:r>
            <a:endParaRPr lang="en-US" sz="145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2_2"/>
          <p:cNvSpPr txBox="1"/>
          <p:nvPr/>
        </p:nvSpPr>
        <p:spPr>
          <a:xfrm>
            <a:off x="558800" y="355600"/>
            <a:ext cx="10160000" cy="254000"/>
          </a:xfrm>
          <a:prstGeom prst="rect">
            <a:avLst/>
          </a:prstGeom>
          <a:noFill/>
        </p:spPr>
        <p:txBody>
          <a:bodyPr vert="horz" wrap="square" lIns="0" tIns="0" rIns="0" bIns="0" rtlCol="0">
            <a:noAutofit/>
          </a:bodyPr>
          <a:lstStyle/>
          <a:p>
            <a:r>
              <a:rPr lang="en-US" sz="1200" b="1" smtClean="0">
                <a:solidFill>
                  <a:srgbClr val="0891B2"/>
                </a:solidFill>
                <a:latin typeface="Calibri"/>
              </a:rPr>
              <a:t>CONCLUSION</a:t>
            </a:r>
            <a:endParaRPr lang="en-US" sz="1200" b="1">
              <a:solidFill>
                <a:srgbClr val="0891B2"/>
              </a:solidFill>
              <a:latin typeface="Calibri"/>
            </a:endParaRPr>
          </a:p>
        </p:txBody>
      </p:sp>
      <p:sp>
        <p:nvSpPr>
          <p:cNvPr id="3" name="Text_12_3"/>
          <p:cNvSpPr txBox="1"/>
          <p:nvPr/>
        </p:nvSpPr>
        <p:spPr>
          <a:xfrm>
            <a:off x="558800" y="787400"/>
            <a:ext cx="11049000" cy="762000"/>
          </a:xfrm>
          <a:prstGeom prst="rect">
            <a:avLst/>
          </a:prstGeom>
          <a:noFill/>
        </p:spPr>
        <p:txBody>
          <a:bodyPr vert="horz" wrap="square" lIns="0" tIns="0" rIns="0" bIns="0" rtlCol="0">
            <a:noAutofit/>
          </a:bodyPr>
          <a:lstStyle/>
          <a:p>
            <a:endParaRPr lang="en-US" sz="3100" b="1">
              <a:solidFill>
                <a:srgbClr val="083344"/>
              </a:solidFill>
              <a:latin typeface="Calibri"/>
            </a:endParaRPr>
          </a:p>
        </p:txBody>
      </p:sp>
      <p:cxnSp>
        <p:nvCxnSpPr>
          <p:cNvPr id="4" name="Straight Arrow Connector 3"/>
          <p:cNvCxnSpPr/>
          <p:nvPr/>
        </p:nvCxnSpPr>
        <p:spPr>
          <a:xfrm>
            <a:off x="558800" y="6527800"/>
            <a:ext cx="11074400" cy="0"/>
          </a:xfrm>
          <a:prstGeom prst="straightConnector1">
            <a:avLst/>
          </a:prstGeom>
          <a:ln w="15240">
            <a:solidFill>
              <a:srgbClr val="C9E9EF"/>
            </a:solidFill>
          </a:ln>
        </p:spPr>
        <p:style>
          <a:lnRef idx="1">
            <a:schemeClr val="accent1"/>
          </a:lnRef>
          <a:fillRef idx="0">
            <a:schemeClr val="accent1"/>
          </a:fillRef>
          <a:effectRef idx="0">
            <a:schemeClr val="accent1"/>
          </a:effectRef>
          <a:fontRef idx="minor">
            <a:schemeClr val="tx1"/>
          </a:fontRef>
        </p:style>
      </p:cxnSp>
      <p:sp>
        <p:nvSpPr>
          <p:cNvPr id="5" name="Text_12_5"/>
          <p:cNvSpPr txBox="1"/>
          <p:nvPr/>
        </p:nvSpPr>
        <p:spPr>
          <a:xfrm>
            <a:off x="558800" y="6604000"/>
            <a:ext cx="2794000" cy="203200"/>
          </a:xfrm>
          <a:prstGeom prst="rect">
            <a:avLst/>
          </a:prstGeom>
          <a:noFill/>
        </p:spPr>
        <p:txBody>
          <a:bodyPr vert="horz" wrap="square" lIns="0" tIns="0" rIns="0" bIns="0" rtlCol="0">
            <a:noAutofit/>
          </a:bodyPr>
          <a:lstStyle/>
          <a:p>
            <a:r>
              <a:rPr lang="en-US" sz="1050" b="1" smtClean="0">
                <a:solidFill>
                  <a:srgbClr val="426773"/>
                </a:solidFill>
                <a:latin typeface="Calibri"/>
              </a:rPr>
              <a:t>HDI Intelligence</a:t>
            </a:r>
            <a:endParaRPr lang="en-US" sz="1050" b="1">
              <a:solidFill>
                <a:srgbClr val="426773"/>
              </a:solidFill>
              <a:latin typeface="Calibri"/>
            </a:endParaRPr>
          </a:p>
        </p:txBody>
      </p:sp>
      <p:sp>
        <p:nvSpPr>
          <p:cNvPr id="6" name="Text_12_6"/>
          <p:cNvSpPr txBox="1"/>
          <p:nvPr/>
        </p:nvSpPr>
        <p:spPr>
          <a:xfrm>
            <a:off x="7747000" y="6604000"/>
            <a:ext cx="3429000" cy="203200"/>
          </a:xfrm>
          <a:prstGeom prst="rect">
            <a:avLst/>
          </a:prstGeom>
          <a:noFill/>
        </p:spPr>
        <p:txBody>
          <a:bodyPr vert="horz" wrap="square" lIns="0" tIns="0" rIns="0" bIns="0" rtlCol="0">
            <a:noAutofit/>
          </a:bodyPr>
          <a:lstStyle/>
          <a:p>
            <a:pPr algn="r"/>
            <a:r>
              <a:rPr lang="en-US" sz="950" smtClean="0">
                <a:solidFill>
                  <a:srgbClr val="426773"/>
                </a:solidFill>
                <a:latin typeface="Calibri"/>
              </a:rPr>
              <a:t>INTERNSHIP REVIEW  /  30 OCTOBER 2026</a:t>
            </a:r>
            <a:endParaRPr lang="en-US" sz="950">
              <a:solidFill>
                <a:srgbClr val="426773"/>
              </a:solidFill>
              <a:latin typeface="Calibri"/>
            </a:endParaRPr>
          </a:p>
        </p:txBody>
      </p:sp>
      <p:sp>
        <p:nvSpPr>
          <p:cNvPr id="7" name="Text_12_7"/>
          <p:cNvSpPr txBox="1"/>
          <p:nvPr/>
        </p:nvSpPr>
        <p:spPr>
          <a:xfrm>
            <a:off x="11315700" y="6578600"/>
            <a:ext cx="317500" cy="228600"/>
          </a:xfrm>
          <a:prstGeom prst="rect">
            <a:avLst/>
          </a:prstGeom>
          <a:noFill/>
        </p:spPr>
        <p:txBody>
          <a:bodyPr vert="horz" wrap="square" lIns="0" tIns="0" rIns="0" bIns="0" rtlCol="0">
            <a:noAutofit/>
          </a:bodyPr>
          <a:lstStyle/>
          <a:p>
            <a:pPr algn="r"/>
            <a:r>
              <a:rPr lang="en-US" sz="1100" b="1" smtClean="0">
                <a:solidFill>
                  <a:srgbClr val="0891B2"/>
                </a:solidFill>
                <a:latin typeface="Calibri"/>
              </a:rPr>
              <a:t>12</a:t>
            </a:r>
            <a:endParaRPr lang="en-US" sz="1100" b="1">
              <a:solidFill>
                <a:srgbClr val="0891B2"/>
              </a:solidFill>
              <a:latin typeface="Calibri"/>
            </a:endParaRPr>
          </a:p>
        </p:txBody>
      </p:sp>
      <p:pic>
        <p:nvPicPr>
          <p:cNvPr id="8" name="Picture 7" descr="logo.png"/>
          <p:cNvPicPr>
            <a:picLocks/>
          </p:cNvPicPr>
          <p:nvPr/>
        </p:nvPicPr>
        <p:blipFill>
          <a:blip r:embed="rId3" cstate="print"/>
          <a:stretch>
            <a:fillRect/>
          </a:stretch>
        </p:blipFill>
        <p:spPr>
          <a:xfrm>
            <a:off x="10464800" y="673100"/>
            <a:ext cx="1117600" cy="1117600"/>
          </a:xfrm>
          <a:prstGeom prst="rect">
            <a:avLst/>
          </a:prstGeom>
        </p:spPr>
      </p:pic>
      <p:sp>
        <p:nvSpPr>
          <p:cNvPr id="9" name="Text_12_9"/>
          <p:cNvSpPr txBox="1"/>
          <p:nvPr/>
        </p:nvSpPr>
        <p:spPr>
          <a:xfrm>
            <a:off x="558800" y="1104900"/>
            <a:ext cx="9652000" cy="1003300"/>
          </a:xfrm>
          <a:prstGeom prst="rect">
            <a:avLst/>
          </a:prstGeom>
          <a:noFill/>
        </p:spPr>
        <p:txBody>
          <a:bodyPr vert="horz" wrap="square" lIns="0" tIns="0" rIns="0" bIns="0" rtlCol="0">
            <a:noAutofit/>
          </a:bodyPr>
          <a:lstStyle/>
          <a:p>
            <a:r>
              <a:rPr lang="en-US" sz="5800" b="1" smtClean="0">
                <a:solidFill>
                  <a:srgbClr val="083344"/>
                </a:solidFill>
                <a:latin typeface="Calibri"/>
              </a:rPr>
              <a:t>Thank You</a:t>
            </a:r>
            <a:endParaRPr lang="en-US" sz="5800" b="1">
              <a:solidFill>
                <a:srgbClr val="083344"/>
              </a:solidFill>
              <a:latin typeface="Calibri"/>
            </a:endParaRPr>
          </a:p>
        </p:txBody>
      </p:sp>
      <p:sp>
        <p:nvSpPr>
          <p:cNvPr id="10" name="Text_12_10"/>
          <p:cNvSpPr txBox="1"/>
          <p:nvPr/>
        </p:nvSpPr>
        <p:spPr>
          <a:xfrm>
            <a:off x="558800" y="2590800"/>
            <a:ext cx="11074400" cy="431800"/>
          </a:xfrm>
          <a:prstGeom prst="rect">
            <a:avLst/>
          </a:prstGeom>
          <a:noFill/>
        </p:spPr>
        <p:txBody>
          <a:bodyPr vert="horz" wrap="square" lIns="0" tIns="0" rIns="0" bIns="0" rtlCol="0">
            <a:noAutofit/>
          </a:bodyPr>
          <a:lstStyle/>
          <a:p>
            <a:r>
              <a:rPr lang="en-US" sz="2400" b="1" smtClean="0">
                <a:solidFill>
                  <a:srgbClr val="083344"/>
                </a:solidFill>
                <a:latin typeface="Calibri"/>
              </a:rPr>
              <a:t>Real UNDP data exploration</a:t>
            </a:r>
            <a:endParaRPr lang="en-US" sz="2400" b="1">
              <a:solidFill>
                <a:srgbClr val="083344"/>
              </a:solidFill>
              <a:latin typeface="Calibri"/>
            </a:endParaRPr>
          </a:p>
        </p:txBody>
      </p:sp>
      <p:sp>
        <p:nvSpPr>
          <p:cNvPr id="11" name="Text_12_11"/>
          <p:cNvSpPr txBox="1"/>
          <p:nvPr/>
        </p:nvSpPr>
        <p:spPr>
          <a:xfrm>
            <a:off x="558800" y="3213100"/>
            <a:ext cx="11074400" cy="431800"/>
          </a:xfrm>
          <a:prstGeom prst="rect">
            <a:avLst/>
          </a:prstGeom>
          <a:noFill/>
        </p:spPr>
        <p:txBody>
          <a:bodyPr vert="horz" wrap="square" lIns="0" tIns="0" rIns="0" bIns="0" rtlCol="0">
            <a:noAutofit/>
          </a:bodyPr>
          <a:lstStyle/>
          <a:p>
            <a:r>
              <a:rPr lang="en-US" sz="2400" b="1" smtClean="0">
                <a:solidFill>
                  <a:srgbClr val="083344"/>
                </a:solidFill>
                <a:latin typeface="Calibri"/>
              </a:rPr>
              <a:t>Transparent ML-based HDI estimation</a:t>
            </a:r>
            <a:endParaRPr lang="en-US" sz="2400" b="1">
              <a:solidFill>
                <a:srgbClr val="083344"/>
              </a:solidFill>
              <a:latin typeface="Calibri"/>
            </a:endParaRPr>
          </a:p>
        </p:txBody>
      </p:sp>
      <p:sp>
        <p:nvSpPr>
          <p:cNvPr id="12" name="Text_12_12"/>
          <p:cNvSpPr txBox="1"/>
          <p:nvPr/>
        </p:nvSpPr>
        <p:spPr>
          <a:xfrm>
            <a:off x="558800" y="3835400"/>
            <a:ext cx="11074400" cy="431800"/>
          </a:xfrm>
          <a:prstGeom prst="rect">
            <a:avLst/>
          </a:prstGeom>
          <a:noFill/>
        </p:spPr>
        <p:txBody>
          <a:bodyPr vert="horz" wrap="square" lIns="0" tIns="0" rIns="0" bIns="0" rtlCol="0">
            <a:noAutofit/>
          </a:bodyPr>
          <a:lstStyle/>
          <a:p>
            <a:r>
              <a:rPr lang="en-US" sz="2400" b="1" smtClean="0">
                <a:solidFill>
                  <a:srgbClr val="083344"/>
                </a:solidFill>
                <a:latin typeface="Calibri"/>
              </a:rPr>
              <a:t>Interactive visualization and optional AI explanations</a:t>
            </a:r>
            <a:endParaRPr lang="en-US" sz="2400" b="1">
              <a:solidFill>
                <a:srgbClr val="083344"/>
              </a:solidFill>
              <a:latin typeface="Calibri"/>
            </a:endParaRPr>
          </a:p>
        </p:txBody>
      </p:sp>
      <p:sp>
        <p:nvSpPr>
          <p:cNvPr id="13" name="Text_12_13"/>
          <p:cNvSpPr txBox="1"/>
          <p:nvPr/>
        </p:nvSpPr>
        <p:spPr>
          <a:xfrm>
            <a:off x="558800" y="4533900"/>
            <a:ext cx="10033000" cy="381000"/>
          </a:xfrm>
          <a:prstGeom prst="rect">
            <a:avLst/>
          </a:prstGeom>
          <a:noFill/>
        </p:spPr>
        <p:txBody>
          <a:bodyPr vert="horz" wrap="square" lIns="0" tIns="0" rIns="0" bIns="0" rtlCol="0">
            <a:noAutofit/>
          </a:bodyPr>
          <a:lstStyle/>
          <a:p>
            <a:r>
              <a:rPr lang="en-US" sz="2100" b="1" dirty="0" smtClean="0">
                <a:solidFill>
                  <a:srgbClr val="0891B2"/>
                </a:solidFill>
                <a:latin typeface="Calibri"/>
              </a:rPr>
              <a:t>Created by Madireddy Meena Mahanth Harinadh</a:t>
            </a:r>
            <a:endParaRPr lang="en-US" sz="2100" b="1" dirty="0">
              <a:solidFill>
                <a:srgbClr val="0891B2"/>
              </a:solidFill>
              <a:latin typeface="Calibri"/>
            </a:endParaRPr>
          </a:p>
        </p:txBody>
      </p:sp>
      <p:sp>
        <p:nvSpPr>
          <p:cNvPr id="14" name="Text_12_14"/>
          <p:cNvSpPr txBox="1"/>
          <p:nvPr/>
        </p:nvSpPr>
        <p:spPr>
          <a:xfrm>
            <a:off x="6096000" y="4509120"/>
            <a:ext cx="381000" cy="444500"/>
          </a:xfrm>
          <a:prstGeom prst="rect">
            <a:avLst/>
          </a:prstGeom>
          <a:noFill/>
        </p:spPr>
        <p:txBody>
          <a:bodyPr vert="horz" wrap="square" lIns="0" tIns="0" rIns="0" bIns="0" rtlCol="0">
            <a:noAutofit/>
          </a:bodyPr>
          <a:lstStyle/>
          <a:p>
            <a:r>
              <a:rPr lang="en-US" sz="2500" dirty="0" smtClean="0">
                <a:solidFill>
                  <a:srgbClr val="C34A66"/>
                </a:solidFill>
                <a:latin typeface="Segoe UI Symbol"/>
              </a:rPr>
              <a:t>♥</a:t>
            </a:r>
            <a:endParaRPr lang="en-US" sz="2500" dirty="0">
              <a:solidFill>
                <a:srgbClr val="C34A66"/>
              </a:solidFill>
              <a:latin typeface="Segoe UI Symbol"/>
            </a:endParaRPr>
          </a:p>
        </p:txBody>
      </p:sp>
      <p:cxnSp>
        <p:nvCxnSpPr>
          <p:cNvPr id="15" name="Straight Arrow Connector 14"/>
          <p:cNvCxnSpPr/>
          <p:nvPr/>
        </p:nvCxnSpPr>
        <p:spPr>
          <a:xfrm>
            <a:off x="558800" y="5130800"/>
            <a:ext cx="11074400" cy="0"/>
          </a:xfrm>
          <a:prstGeom prst="straightConnector1">
            <a:avLst/>
          </a:prstGeom>
          <a:ln w="19050">
            <a:solidFill>
              <a:srgbClr val="C9E9EF"/>
            </a:solidFill>
          </a:ln>
        </p:spPr>
        <p:style>
          <a:lnRef idx="1">
            <a:schemeClr val="accent1"/>
          </a:lnRef>
          <a:fillRef idx="0">
            <a:schemeClr val="accent1"/>
          </a:fillRef>
          <a:effectRef idx="0">
            <a:schemeClr val="accent1"/>
          </a:effectRef>
          <a:fontRef idx="minor">
            <a:schemeClr val="tx1"/>
          </a:fontRef>
        </p:style>
      </p:cxnSp>
      <p:sp>
        <p:nvSpPr>
          <p:cNvPr id="16" name="Text_12_16"/>
          <p:cNvSpPr txBox="1"/>
          <p:nvPr/>
        </p:nvSpPr>
        <p:spPr>
          <a:xfrm>
            <a:off x="558800" y="5346700"/>
            <a:ext cx="1219200" cy="317500"/>
          </a:xfrm>
          <a:prstGeom prst="rect">
            <a:avLst/>
          </a:prstGeom>
          <a:noFill/>
        </p:spPr>
        <p:txBody>
          <a:bodyPr vert="horz" wrap="square" lIns="0" tIns="0" rIns="0" bIns="0" rtlCol="0">
            <a:noAutofit/>
          </a:bodyPr>
          <a:lstStyle/>
          <a:p>
            <a:r>
              <a:rPr lang="en-US" sz="1500" b="1" smtClean="0">
                <a:solidFill>
                  <a:srgbClr val="0891B2"/>
                </a:solidFill>
                <a:latin typeface="Calibri"/>
              </a:rPr>
              <a:t>GitHub</a:t>
            </a:r>
            <a:endParaRPr lang="en-US" sz="1500" b="1">
              <a:solidFill>
                <a:srgbClr val="0891B2"/>
              </a:solidFill>
              <a:latin typeface="Calibri"/>
            </a:endParaRPr>
          </a:p>
        </p:txBody>
      </p:sp>
      <p:sp>
        <p:nvSpPr>
          <p:cNvPr id="17" name="Text_12_17"/>
          <p:cNvSpPr txBox="1"/>
          <p:nvPr/>
        </p:nvSpPr>
        <p:spPr>
          <a:xfrm>
            <a:off x="1943100" y="5346700"/>
            <a:ext cx="9690100" cy="317500"/>
          </a:xfrm>
          <a:prstGeom prst="rect">
            <a:avLst/>
          </a:prstGeom>
          <a:noFill/>
        </p:spPr>
        <p:txBody>
          <a:bodyPr vert="horz" wrap="square" lIns="0" tIns="0" rIns="0" bIns="0" rtlCol="0">
            <a:noAutofit/>
          </a:bodyPr>
          <a:lstStyle/>
          <a:p>
            <a:r>
              <a:rPr lang="en-US" sz="1500" smtClean="0">
                <a:solidFill>
                  <a:srgbClr val="083344"/>
                </a:solidFill>
                <a:latin typeface="Calibri"/>
                <a:hlinkClick r:id="rId4"/>
              </a:rPr>
              <a:t>github.com/meenamahanth/HDI-Prediction-Analytics-System</a:t>
            </a:r>
            <a:endParaRPr lang="en-US" sz="1500">
              <a:solidFill>
                <a:srgbClr val="083344"/>
              </a:solidFill>
              <a:latin typeface="Calibri"/>
            </a:endParaRPr>
          </a:p>
        </p:txBody>
      </p:sp>
      <p:sp>
        <p:nvSpPr>
          <p:cNvPr id="18" name="Text_12_18"/>
          <p:cNvSpPr txBox="1"/>
          <p:nvPr/>
        </p:nvSpPr>
        <p:spPr>
          <a:xfrm>
            <a:off x="558800" y="5727700"/>
            <a:ext cx="1333500" cy="317500"/>
          </a:xfrm>
          <a:prstGeom prst="rect">
            <a:avLst/>
          </a:prstGeom>
          <a:noFill/>
        </p:spPr>
        <p:txBody>
          <a:bodyPr vert="horz" wrap="square" lIns="0" tIns="0" rIns="0" bIns="0" rtlCol="0">
            <a:noAutofit/>
          </a:bodyPr>
          <a:lstStyle/>
          <a:p>
            <a:r>
              <a:rPr lang="en-US" sz="1500" b="1" smtClean="0">
                <a:solidFill>
                  <a:srgbClr val="0891B2"/>
                </a:solidFill>
                <a:latin typeface="Calibri"/>
              </a:rPr>
              <a:t>UNDP Data</a:t>
            </a:r>
            <a:endParaRPr lang="en-US" sz="1500" b="1">
              <a:solidFill>
                <a:srgbClr val="0891B2"/>
              </a:solidFill>
              <a:latin typeface="Calibri"/>
            </a:endParaRPr>
          </a:p>
        </p:txBody>
      </p:sp>
      <p:sp>
        <p:nvSpPr>
          <p:cNvPr id="19" name="Text_12_19"/>
          <p:cNvSpPr txBox="1"/>
          <p:nvPr/>
        </p:nvSpPr>
        <p:spPr>
          <a:xfrm>
            <a:off x="1943100" y="5727700"/>
            <a:ext cx="9690100" cy="317500"/>
          </a:xfrm>
          <a:prstGeom prst="rect">
            <a:avLst/>
          </a:prstGeom>
          <a:noFill/>
        </p:spPr>
        <p:txBody>
          <a:bodyPr vert="horz" wrap="square" lIns="0" tIns="0" rIns="0" bIns="0" rtlCol="0">
            <a:noAutofit/>
          </a:bodyPr>
          <a:lstStyle/>
          <a:p>
            <a:r>
              <a:rPr lang="en-US" sz="1500" smtClean="0">
                <a:solidFill>
                  <a:srgbClr val="083344"/>
                </a:solidFill>
                <a:latin typeface="Calibri"/>
                <a:hlinkClick r:id="rId5"/>
              </a:rPr>
              <a:t>hdr.undp.org/data-center/documentation-and-downloads</a:t>
            </a:r>
            <a:endParaRPr lang="en-US" sz="1500">
              <a:solidFill>
                <a:srgbClr val="083344"/>
              </a:solidFill>
              <a:latin typeface="Calibri"/>
            </a:endParaRPr>
          </a:p>
        </p:txBody>
      </p:sp>
      <p:sp>
        <p:nvSpPr>
          <p:cNvPr id="20" name="Text_12_20"/>
          <p:cNvSpPr txBox="1"/>
          <p:nvPr/>
        </p:nvSpPr>
        <p:spPr>
          <a:xfrm>
            <a:off x="558800" y="6121400"/>
            <a:ext cx="1524000" cy="279400"/>
          </a:xfrm>
          <a:prstGeom prst="rect">
            <a:avLst/>
          </a:prstGeom>
          <a:noFill/>
        </p:spPr>
        <p:txBody>
          <a:bodyPr vert="horz" wrap="square" lIns="0" tIns="0" rIns="0" bIns="0" rtlCol="0">
            <a:noAutofit/>
          </a:bodyPr>
          <a:lstStyle/>
          <a:p>
            <a:r>
              <a:rPr lang="en-US" sz="1300" b="1" smtClean="0">
                <a:solidFill>
                  <a:srgbClr val="426773"/>
                </a:solidFill>
                <a:latin typeface="Calibri"/>
              </a:rPr>
              <a:t>Vercel target</a:t>
            </a:r>
            <a:endParaRPr lang="en-US" sz="1300" b="1">
              <a:solidFill>
                <a:srgbClr val="426773"/>
              </a:solidFill>
              <a:latin typeface="Calibri"/>
            </a:endParaRPr>
          </a:p>
        </p:txBody>
      </p:sp>
      <p:sp>
        <p:nvSpPr>
          <p:cNvPr id="21" name="Text_12_21"/>
          <p:cNvSpPr txBox="1"/>
          <p:nvPr/>
        </p:nvSpPr>
        <p:spPr>
          <a:xfrm>
            <a:off x="1991544" y="6121400"/>
            <a:ext cx="9641656" cy="279400"/>
          </a:xfrm>
          <a:prstGeom prst="rect">
            <a:avLst/>
          </a:prstGeom>
          <a:noFill/>
        </p:spPr>
        <p:txBody>
          <a:bodyPr vert="horz" wrap="square" lIns="0" tIns="0" rIns="0" bIns="0" rtlCol="0">
            <a:noAutofit/>
          </a:bodyPr>
          <a:lstStyle/>
          <a:p>
            <a:r>
              <a:rPr lang="en-US" sz="1300" dirty="0" smtClean="0">
                <a:solidFill>
                  <a:srgbClr val="426773"/>
                </a:solidFill>
                <a:hlinkClick r:id="rId6"/>
              </a:rPr>
              <a:t>https://hdi-intelligence.vercel.app/</a:t>
            </a:r>
            <a:endParaRPr lang="en-US" sz="1300" dirty="0">
              <a:solidFill>
                <a:srgbClr val="426773"/>
              </a:solidFill>
              <a:latin typeface="Calibri"/>
            </a:endParaRPr>
          </a:p>
        </p:txBody>
      </p:sp>
    </p:spTree>
  </p:cSld>
  <p:clrMapOvr>
    <a:masterClrMapping/>
  </p:clrMapOvr>
  <p:transition>
    <p:fade thruBlk="1"/>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997</Words>
  <Application>Microsoft Office PowerPoint</Application>
  <PresentationFormat>Custom</PresentationFormat>
  <Paragraphs>283</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Meena Mahanth Harinadh Madireddy</dc:creator>
  <cp:lastModifiedBy>Meena Mahanth Harinadh Madireddy</cp:lastModifiedBy>
  <cp:revision>2</cp:revision>
  <dcterms:created xsi:type="dcterms:W3CDTF">2026-10-29T09:46:08Z</dcterms:created>
  <dcterms:modified xsi:type="dcterms:W3CDTF">2026-10-29T11:12:56Z</dcterms:modified>
</cp:coreProperties>
</file>